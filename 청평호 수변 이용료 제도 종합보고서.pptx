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797675" cy="9926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697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35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148.png"/><Relationship Id="rId15" Type="http://schemas.openxmlformats.org/officeDocument/2006/relationships/image" Target="../media/image95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jpeg"/><Relationship Id="rId7" Type="http://schemas.openxmlformats.org/officeDocument/2006/relationships/image" Target="../media/image1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7791" b="779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8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noFill/>
          <a:ln w="254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-1429207" y="2572207"/>
            <a:ext cx="5715000" cy="5715000"/>
          </a:xfrm>
          <a:prstGeom prst="ellipse">
            <a:avLst/>
          </a:prstGeom>
          <a:noFill/>
          <a:ln w="381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84218" y="1069561"/>
            <a:ext cx="3228746" cy="523951"/>
          </a:xfrm>
          <a:prstGeom prst="roundRect">
            <a:avLst>
              <a:gd name="adj" fmla="val 174520"/>
            </a:avLst>
          </a:prstGeom>
          <a:solidFill>
            <a:srgbClr val="00838F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2525" r="-2525"/>
          <a:stretch/>
        </p:blipFill>
        <p:spPr>
          <a:xfrm>
            <a:off x="4798771" y="1239641"/>
            <a:ext cx="190195" cy="1810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046574" y="1069561"/>
            <a:ext cx="239115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7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대한민국 최초 관광재정 모델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300208" y="2203248"/>
            <a:ext cx="7591277" cy="164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kern="0" spc="-108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</a:t>
            </a:r>
            <a:r>
              <a:rPr lang="ko-KR" altLang="en-US" sz="5400" kern="0" spc="-108" dirty="0" err="1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청평호</a:t>
            </a:r>
            <a:r>
              <a:rPr lang="en-US" sz="5400" kern="0" spc="-108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수변 이용료 제도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kern="0" spc="-108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종합 보고서 </a:t>
            </a:r>
            <a:endParaRPr lang="en-US" sz="5400" dirty="0"/>
          </a:p>
        </p:txBody>
      </p:sp>
      <p:sp>
        <p:nvSpPr>
          <p:cNvPr id="12" name="Shape 8"/>
          <p:cNvSpPr/>
          <p:nvPr/>
        </p:nvSpPr>
        <p:spPr>
          <a:xfrm>
            <a:off x="3033979" y="4343478"/>
            <a:ext cx="6124651" cy="609905"/>
          </a:xfrm>
          <a:prstGeom prst="roundRect">
            <a:avLst>
              <a:gd name="adj" fmla="val 37481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82773" y="4352443"/>
            <a:ext cx="6227978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92100" tIns="101600" rIns="292100" bIns="10160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E0F7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「북한강 관광자원 관리 및 지속가능 재정 모델」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5510174" y="6130138"/>
            <a:ext cx="6958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가평군청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91633" y="6170371"/>
            <a:ext cx="171907" cy="171907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2001" b="-2001"/>
          <a:stretch/>
        </p:blipFill>
        <p:spPr>
          <a:xfrm>
            <a:off x="6317590" y="6185002"/>
            <a:ext cx="9144" cy="14264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79438" y="6130138"/>
            <a:ext cx="4672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8858707" y="374172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599225"/>
            <a:ext cx="12191695" cy="267005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6402" y="6636715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647627" y="6636715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71500" y="1028700"/>
            <a:ext cx="2619756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" y="2599639"/>
            <a:ext cx="2619756" cy="38405"/>
          </a:xfrm>
          <a:prstGeom prst="roundRect">
            <a:avLst>
              <a:gd name="adj" fmla="val 3381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4146" y="1123798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40" r="-40"/>
          <a:stretch/>
        </p:blipFill>
        <p:spPr>
          <a:xfrm>
            <a:off x="1738274" y="1450238"/>
            <a:ext cx="286207" cy="3813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71270" y="2050999"/>
            <a:ext cx="82296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개요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381451" y="1028700"/>
            <a:ext cx="2619756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81451" y="2599639"/>
            <a:ext cx="2619756" cy="38405"/>
          </a:xfrm>
          <a:prstGeom prst="roundRect">
            <a:avLst>
              <a:gd name="adj" fmla="val 3381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524098" y="1123798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00677" y="1450238"/>
            <a:ext cx="381305" cy="3813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047134" y="2050999"/>
            <a:ext cx="128747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명칭 체계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91402" y="1028700"/>
            <a:ext cx="2619756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91402" y="2599639"/>
            <a:ext cx="2619756" cy="38405"/>
          </a:xfrm>
          <a:prstGeom prst="roundRect">
            <a:avLst>
              <a:gd name="adj" fmla="val 3381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34049" y="1123798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10628" y="1450238"/>
            <a:ext cx="381305" cy="3813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00646" y="2050999"/>
            <a:ext cx="100126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메시지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9001354" y="1028700"/>
            <a:ext cx="2619756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001354" y="2599639"/>
            <a:ext cx="2619756" cy="38405"/>
          </a:xfrm>
          <a:prstGeom prst="roundRect">
            <a:avLst>
              <a:gd name="adj" fmla="val 3381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144000" y="1123798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t="-13" b="-13"/>
          <a:stretch/>
        </p:blipFill>
        <p:spPr>
          <a:xfrm>
            <a:off x="10096805" y="1450238"/>
            <a:ext cx="428854" cy="38130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901123" y="2050999"/>
            <a:ext cx="82296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징수 구조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71500" y="2821838"/>
            <a:ext cx="2619756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571500" y="4392778"/>
            <a:ext cx="2619756" cy="38405"/>
          </a:xfrm>
          <a:prstGeom prst="roundRect">
            <a:avLst>
              <a:gd name="adj" fmla="val 3381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714146" y="2916936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4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 t="-13" b="-13"/>
          <a:stretch/>
        </p:blipFill>
        <p:spPr>
          <a:xfrm>
            <a:off x="1666951" y="3244291"/>
            <a:ext cx="428854" cy="38130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152144" y="3844138"/>
            <a:ext cx="146669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도입 계획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3381451" y="2821838"/>
            <a:ext cx="2619756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3381451" y="4392778"/>
            <a:ext cx="2619756" cy="38405"/>
          </a:xfrm>
          <a:prstGeom prst="roundRect">
            <a:avLst>
              <a:gd name="adj" fmla="val 3381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3524098" y="2916936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838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4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t="-13" b="-13"/>
          <a:stretch/>
        </p:blipFill>
        <p:spPr>
          <a:xfrm>
            <a:off x="4476902" y="3244291"/>
            <a:ext cx="428854" cy="38130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158691" y="3844138"/>
            <a:ext cx="107259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관광특별회계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6191402" y="2821838"/>
            <a:ext cx="2619756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191402" y="4392778"/>
            <a:ext cx="2619756" cy="38405"/>
          </a:xfrm>
          <a:prstGeom prst="roundRect">
            <a:avLst>
              <a:gd name="adj" fmla="val 3381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6334049" y="2916936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4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 t="-24" b="-24"/>
          <a:stretch/>
        </p:blipFill>
        <p:spPr>
          <a:xfrm>
            <a:off x="7263079" y="3244291"/>
            <a:ext cx="476402" cy="38130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091172" y="3844138"/>
            <a:ext cx="82296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근거</a:t>
            </a:r>
            <a:endParaRPr lang="en-US" sz="1300" dirty="0"/>
          </a:p>
        </p:txBody>
      </p:sp>
      <p:sp>
        <p:nvSpPr>
          <p:cNvPr id="43" name="Shape 33"/>
          <p:cNvSpPr/>
          <p:nvPr/>
        </p:nvSpPr>
        <p:spPr>
          <a:xfrm>
            <a:off x="9001354" y="2821838"/>
            <a:ext cx="2619756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9001354" y="4392778"/>
            <a:ext cx="2619756" cy="38405"/>
          </a:xfrm>
          <a:prstGeom prst="roundRect">
            <a:avLst>
              <a:gd name="adj" fmla="val 3381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9144000" y="2916936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4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20579" y="3126334"/>
            <a:ext cx="381305" cy="38130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950501" y="3727094"/>
            <a:ext cx="7242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분쟁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회피 전략</a:t>
            </a:r>
            <a:endParaRPr lang="en-US" sz="1300" dirty="0"/>
          </a:p>
        </p:txBody>
      </p:sp>
      <p:sp>
        <p:nvSpPr>
          <p:cNvPr id="48" name="Shape 37"/>
          <p:cNvSpPr/>
          <p:nvPr/>
        </p:nvSpPr>
        <p:spPr>
          <a:xfrm>
            <a:off x="571500" y="4614977"/>
            <a:ext cx="2619756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571500" y="6185916"/>
            <a:ext cx="2619756" cy="38405"/>
          </a:xfrm>
          <a:prstGeom prst="roundRect">
            <a:avLst>
              <a:gd name="adj" fmla="val 3381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Text 39"/>
          <p:cNvSpPr txBox="1"/>
          <p:nvPr/>
        </p:nvSpPr>
        <p:spPr>
          <a:xfrm>
            <a:off x="714146" y="4710074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400" dirty="0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690726" y="5037430"/>
            <a:ext cx="381305" cy="381305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1381658" y="5637276"/>
            <a:ext cx="100126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조례 제정안</a:t>
            </a:r>
            <a:endParaRPr lang="en-US" sz="1300" dirty="0"/>
          </a:p>
        </p:txBody>
      </p:sp>
      <p:sp>
        <p:nvSpPr>
          <p:cNvPr id="53" name="Shape 41"/>
          <p:cNvSpPr/>
          <p:nvPr/>
        </p:nvSpPr>
        <p:spPr>
          <a:xfrm>
            <a:off x="3381451" y="4614977"/>
            <a:ext cx="2619756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4" name="Shape 42"/>
          <p:cNvSpPr/>
          <p:nvPr/>
        </p:nvSpPr>
        <p:spPr>
          <a:xfrm>
            <a:off x="3381451" y="6185916"/>
            <a:ext cx="2619756" cy="38405"/>
          </a:xfrm>
          <a:prstGeom prst="roundRect">
            <a:avLst>
              <a:gd name="adj" fmla="val 3381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Text 43"/>
          <p:cNvSpPr txBox="1"/>
          <p:nvPr/>
        </p:nvSpPr>
        <p:spPr>
          <a:xfrm>
            <a:off x="3524098" y="4710074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838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400" dirty="0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500677" y="5037430"/>
            <a:ext cx="381305" cy="381305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4281221" y="5637276"/>
            <a:ext cx="82296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효과</a:t>
            </a:r>
            <a:endParaRPr lang="en-US" sz="1300" dirty="0"/>
          </a:p>
        </p:txBody>
      </p:sp>
      <p:sp>
        <p:nvSpPr>
          <p:cNvPr id="58" name="Shape 45"/>
          <p:cNvSpPr/>
          <p:nvPr/>
        </p:nvSpPr>
        <p:spPr>
          <a:xfrm>
            <a:off x="6191402" y="4614977"/>
            <a:ext cx="5429707" cy="1609344"/>
          </a:xfrm>
          <a:prstGeom prst="roundRect">
            <a:avLst>
              <a:gd name="adj" fmla="val 8069"/>
            </a:avLst>
          </a:prstGeom>
          <a:solidFill>
            <a:srgbClr val="00838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9" name="Shape 46"/>
          <p:cNvSpPr/>
          <p:nvPr/>
        </p:nvSpPr>
        <p:spPr>
          <a:xfrm>
            <a:off x="6191402" y="6185916"/>
            <a:ext cx="5429707" cy="38405"/>
          </a:xfrm>
          <a:prstGeom prst="roundRect">
            <a:avLst>
              <a:gd name="adj" fmla="val 3381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Text 47"/>
          <p:cNvSpPr txBox="1"/>
          <p:nvPr/>
        </p:nvSpPr>
        <p:spPr>
          <a:xfrm>
            <a:off x="6334049" y="4710074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400" dirty="0"/>
          </a:p>
        </p:txBody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 r:embed="rId14"/>
          <a:srcRect l="-17" r="-17"/>
          <a:stretch/>
        </p:blipFill>
        <p:spPr>
          <a:xfrm>
            <a:off x="8738921" y="5037430"/>
            <a:ext cx="333756" cy="381305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8495690" y="5637276"/>
            <a:ext cx="82296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 선언</a:t>
            </a:r>
            <a:endParaRPr lang="en-US" sz="1300" dirty="0"/>
          </a:p>
        </p:txBody>
      </p:sp>
      <p:sp>
        <p:nvSpPr>
          <p:cNvPr id="63" name="Shape 49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0"/>
          <p:cNvSpPr/>
          <p:nvPr/>
        </p:nvSpPr>
        <p:spPr>
          <a:xfrm>
            <a:off x="0" y="599846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76402" y="157277"/>
            <a:ext cx="333756" cy="333756"/>
          </a:xfrm>
          <a:prstGeom prst="rect">
            <a:avLst/>
          </a:prstGeom>
        </p:spPr>
      </p:pic>
      <p:sp>
        <p:nvSpPr>
          <p:cNvPr id="66" name="Text 51"/>
          <p:cNvSpPr txBox="1"/>
          <p:nvPr/>
        </p:nvSpPr>
        <p:spPr>
          <a:xfrm>
            <a:off x="952805" y="72238"/>
            <a:ext cx="71506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2600" dirty="0"/>
          </a:p>
        </p:txBody>
      </p:sp>
      <p:sp>
        <p:nvSpPr>
          <p:cNvPr id="67" name="Text 52"/>
          <p:cNvSpPr txBox="1"/>
          <p:nvPr/>
        </p:nvSpPr>
        <p:spPr>
          <a:xfrm>
            <a:off x="10175443" y="152705"/>
            <a:ext cx="18370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가평군청 · 2026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838505"/>
            <a:ext cx="5429707" cy="952805"/>
          </a:xfrm>
          <a:prstGeom prst="roundRect">
            <a:avLst>
              <a:gd name="adj" fmla="val 2303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838505"/>
            <a:ext cx="47549" cy="952805"/>
          </a:xfrm>
          <a:prstGeom prst="roundRect">
            <a:avLst>
              <a:gd name="adj" fmla="val 461537"/>
            </a:avLst>
          </a:prstGeom>
          <a:solidFill>
            <a:srgbClr val="00838F"/>
          </a:solidFill>
          <a:ln w="12700">
            <a:solidFill>
              <a:srgbClr val="0083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" y="1028700"/>
            <a:ext cx="571500" cy="57150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333" b="-333"/>
          <a:stretch/>
        </p:blipFill>
        <p:spPr>
          <a:xfrm>
            <a:off x="923544" y="1175918"/>
            <a:ext cx="342900" cy="2761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71854" y="1038758"/>
            <a:ext cx="219181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수도권 대표 관광지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71854" y="1360627"/>
            <a:ext cx="2414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관광객 약 </a:t>
            </a: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1,000만 명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91402" y="838505"/>
            <a:ext cx="5429707" cy="952805"/>
          </a:xfrm>
          <a:prstGeom prst="roundRect">
            <a:avLst>
              <a:gd name="adj" fmla="val 2303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1402" y="838505"/>
            <a:ext cx="47549" cy="952805"/>
          </a:xfrm>
          <a:prstGeom prst="roundRect">
            <a:avLst>
              <a:gd name="adj" fmla="val 461537"/>
            </a:avLst>
          </a:prstGeom>
          <a:solidFill>
            <a:srgbClr val="00838F"/>
          </a:solidFill>
          <a:ln w="12700">
            <a:solidFill>
              <a:srgbClr val="00838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29146" y="1028700"/>
            <a:ext cx="571500" cy="57150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77279" y="1175918"/>
            <a:ext cx="276149" cy="2761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91756" y="1038758"/>
            <a:ext cx="1708099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관광 자산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191756" y="1360627"/>
            <a:ext cx="195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북한강 수변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계곡 자원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71500" y="2180844"/>
            <a:ext cx="952805" cy="304495"/>
          </a:xfrm>
          <a:prstGeom prst="roundRect">
            <a:avLst>
              <a:gd name="adj" fmla="val 300300"/>
            </a:avLst>
          </a:prstGeom>
          <a:solidFill>
            <a:srgbClr val="EF53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3154" y="2180844"/>
            <a:ext cx="10104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664208" y="2171700"/>
            <a:ext cx="373623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관광객 증가에 따른 3대 현안 과제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71500" y="2681935"/>
            <a:ext cx="3524098" cy="2542946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71500" y="2681935"/>
            <a:ext cx="3524098" cy="47549"/>
          </a:xfrm>
          <a:prstGeom prst="roundRect">
            <a:avLst>
              <a:gd name="adj" fmla="val 216075"/>
            </a:avLst>
          </a:prstGeom>
          <a:solidFill>
            <a:srgbClr val="EF5350"/>
          </a:solidFill>
          <a:ln w="12700">
            <a:solidFill>
              <a:srgbClr val="EF5350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952244" y="3015691"/>
            <a:ext cx="761695" cy="761695"/>
          </a:xfrm>
          <a:prstGeom prst="ellipse">
            <a:avLst/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17" r="-17"/>
          <a:stretch/>
        </p:blipFill>
        <p:spPr>
          <a:xfrm>
            <a:off x="2167128" y="3205886"/>
            <a:ext cx="333756" cy="38130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20724" y="3968496"/>
            <a:ext cx="22311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관리 비용 급증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433779" y="4431182"/>
            <a:ext cx="180319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수변 쓰레기 처리 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정화 예산 부담 가중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334256" y="2681935"/>
            <a:ext cx="3524098" cy="2542946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334256" y="2681935"/>
            <a:ext cx="3524098" cy="47549"/>
          </a:xfrm>
          <a:prstGeom prst="roundRect">
            <a:avLst>
              <a:gd name="adj" fmla="val 216075"/>
            </a:avLst>
          </a:prstGeom>
          <a:solidFill>
            <a:srgbClr val="EF5350"/>
          </a:solidFill>
          <a:ln w="12700">
            <a:solidFill>
              <a:srgbClr val="EF5350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715000" y="3015691"/>
            <a:ext cx="761695" cy="761695"/>
          </a:xfrm>
          <a:prstGeom prst="ellipse">
            <a:avLst/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05195" y="3205886"/>
            <a:ext cx="381305" cy="38130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982566" y="3968496"/>
            <a:ext cx="22311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안전 관리 필요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5196535" y="4431182"/>
            <a:ext cx="180319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물놀이 안전사고 예방 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수변 안전 요원 배치 시급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8096098" y="2681935"/>
            <a:ext cx="3524098" cy="2542946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8096098" y="2681935"/>
            <a:ext cx="3524098" cy="47549"/>
          </a:xfrm>
          <a:prstGeom prst="roundRect">
            <a:avLst>
              <a:gd name="adj" fmla="val 216075"/>
            </a:avLst>
          </a:prstGeom>
          <a:solidFill>
            <a:srgbClr val="EF5350"/>
          </a:solidFill>
          <a:ln w="12700">
            <a:solidFill>
              <a:srgbClr val="EF5350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477756" y="3015691"/>
            <a:ext cx="761695" cy="761695"/>
          </a:xfrm>
          <a:prstGeom prst="ellipse">
            <a:avLst/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t="-13" b="-13"/>
          <a:stretch/>
        </p:blipFill>
        <p:spPr>
          <a:xfrm>
            <a:off x="9644177" y="3205886"/>
            <a:ext cx="428854" cy="38130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926373" y="3968496"/>
            <a:ext cx="186629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인프라 투자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8959291" y="4431182"/>
            <a:ext cx="180319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노후 시설 개선 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 시설 확충 재원 부족</a:t>
            </a:r>
            <a:endParaRPr lang="en-US" sz="13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t="-8" b="-8"/>
          <a:stretch/>
        </p:blipFill>
        <p:spPr>
          <a:xfrm>
            <a:off x="571500" y="5810098"/>
            <a:ext cx="11048695" cy="116220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762695" y="5810098"/>
            <a:ext cx="2857500" cy="1162202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0" y="7353605"/>
            <a:ext cx="12191695" cy="190195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476402" y="7353605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11647627" y="7353605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952805" y="6217920"/>
            <a:ext cx="1133856" cy="352044"/>
          </a:xfrm>
          <a:prstGeom prst="roundRect">
            <a:avLst>
              <a:gd name="adj" fmla="val 702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952805" y="6217920"/>
            <a:ext cx="1191463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2270455" y="6185916"/>
            <a:ext cx="315010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수변 이용료 제도 도입</a:t>
            </a:r>
            <a:endParaRPr lang="en-US" sz="21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>
            <a:alphaModFix amt="90000"/>
          </a:blip>
          <a:srcRect l="-44" r="-44"/>
          <a:stretch/>
        </p:blipFill>
        <p:spPr>
          <a:xfrm>
            <a:off x="10724998" y="6191402"/>
            <a:ext cx="514807" cy="457200"/>
          </a:xfrm>
          <a:prstGeom prst="rect">
            <a:avLst/>
          </a:prstGeom>
        </p:spPr>
      </p:pic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43600" y="5315407"/>
            <a:ext cx="304495" cy="304495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0" y="409651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76402" y="75895"/>
            <a:ext cx="304495" cy="304495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923544" y="0"/>
            <a:ext cx="1495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개요</a:t>
            </a:r>
            <a:endParaRPr lang="en-US" sz="2400" dirty="0"/>
          </a:p>
        </p:txBody>
      </p:sp>
      <p:sp>
        <p:nvSpPr>
          <p:cNvPr id="51" name="Shape 40"/>
          <p:cNvSpPr/>
          <p:nvPr/>
        </p:nvSpPr>
        <p:spPr>
          <a:xfrm>
            <a:off x="2321662" y="91440"/>
            <a:ext cx="9144" cy="2761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2521001" y="91440"/>
            <a:ext cx="122072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필요성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877824"/>
            <a:ext cx="171907" cy="17190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8505" y="838505"/>
            <a:ext cx="157459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 및 법적 기준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1500" y="1422806"/>
            <a:ext cx="5333695" cy="2866644"/>
          </a:xfrm>
          <a:prstGeom prst="roundRect">
            <a:avLst>
              <a:gd name="adj" fmla="val 254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1500" y="1422806"/>
            <a:ext cx="57607" cy="2866644"/>
          </a:xfrm>
          <a:prstGeom prst="roundRect">
            <a:avLst>
              <a:gd name="adj" fmla="val 126563"/>
            </a:avLst>
          </a:prstGeom>
          <a:solidFill>
            <a:srgbClr val="0D47A1"/>
          </a:solidFill>
          <a:ln w="12700">
            <a:solidFill>
              <a:srgbClr val="0D47A1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328977"/>
            <a:ext cx="47055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709014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7844" y="183245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33449" y="1798625"/>
            <a:ext cx="9729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명칭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834433" y="1816913"/>
            <a:ext cx="790956" cy="267005"/>
          </a:xfrm>
          <a:prstGeom prst="roundRect">
            <a:avLst>
              <a:gd name="adj" fmla="val 342465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06086" y="1816913"/>
            <a:ext cx="8485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 안전성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2528316"/>
            <a:ext cx="4896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행정적으로 가장 안전하고 명확한 용어 사용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14400" y="2891333"/>
            <a:ext cx="4705502" cy="1114654"/>
          </a:xfrm>
          <a:prstGeom prst="roundRect">
            <a:avLst>
              <a:gd name="adj" fmla="val 11218"/>
            </a:avLst>
          </a:prstGeom>
          <a:solidFill>
            <a:srgbClr val="F8F9FA"/>
          </a:solidFill>
          <a:ln w="12700">
            <a:solidFill>
              <a:srgbClr val="ADB5B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75995" y="2891333"/>
            <a:ext cx="4782312" cy="11146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수변 공공시설 이용료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수변 관광시설 이용료 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104388" y="3340303"/>
            <a:ext cx="333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71500" y="4524451"/>
            <a:ext cx="5333695" cy="2305202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1500" y="4524451"/>
            <a:ext cx="57607" cy="2305202"/>
          </a:xfrm>
          <a:prstGeom prst="roundRect">
            <a:avLst>
              <a:gd name="adj" fmla="val 157419"/>
            </a:avLst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14400" y="5430622"/>
            <a:ext cx="47055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14400" y="4810658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E8E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1052474" y="4934102"/>
            <a:ext cx="200254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533449" y="4899355"/>
            <a:ext cx="9729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조례 명칭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4946904" y="4918558"/>
            <a:ext cx="676656" cy="267005"/>
          </a:xfrm>
          <a:prstGeom prst="roundRect">
            <a:avLst>
              <a:gd name="adj" fmla="val 342465"/>
            </a:avLst>
          </a:prstGeom>
          <a:solidFill>
            <a:srgbClr val="E8E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917643" y="4918558"/>
            <a:ext cx="7342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근거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914400" y="5629046"/>
            <a:ext cx="4896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조례 제정을 위한 구체적 법률 용어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914400" y="5992978"/>
            <a:ext cx="4705502" cy="552298"/>
          </a:xfrm>
          <a:prstGeom prst="roundRect">
            <a:avLst>
              <a:gd name="adj" fmla="val 45672"/>
            </a:avLst>
          </a:prstGeom>
          <a:solidFill>
            <a:srgbClr val="F8F9FA"/>
          </a:solidFill>
          <a:ln w="12700">
            <a:solidFill>
              <a:srgbClr val="ADB5BD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75995" y="5992978"/>
            <a:ext cx="4782312" cy="5532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가평군 수변 관광시설 관리 및 이용료 징수 조례</a:t>
            </a:r>
            <a:endParaRPr lang="en-US" sz="12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86500" y="877824"/>
            <a:ext cx="171907" cy="17190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553505" y="838505"/>
            <a:ext cx="157459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대외 소통 및 홍보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286500" y="1185062"/>
            <a:ext cx="5333695" cy="5648249"/>
          </a:xfrm>
          <a:prstGeom prst="roundRect">
            <a:avLst>
              <a:gd name="adj" fmla="val 735"/>
            </a:avLst>
          </a:prstGeom>
          <a:solidFill>
            <a:srgbClr val="E0F7FA"/>
          </a:solidFill>
          <a:ln w="25400">
            <a:solidFill>
              <a:srgbClr val="00838F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590995" y="2299716"/>
            <a:ext cx="47247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590995" y="1489558"/>
            <a:ext cx="666598" cy="666598"/>
          </a:xfrm>
          <a:prstGeom prst="roundRect">
            <a:avLst>
              <a:gd name="adj" fmla="val 39193"/>
            </a:avLst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6734556" y="1670609"/>
            <a:ext cx="381305" cy="30449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401154" y="1651406"/>
            <a:ext cx="1755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0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대외 홍보 명칭</a:t>
            </a:r>
            <a:endParaRPr lang="en-US" sz="1800" dirty="0"/>
          </a:p>
        </p:txBody>
      </p:sp>
      <p:sp>
        <p:nvSpPr>
          <p:cNvPr id="36" name="Shape 29"/>
          <p:cNvSpPr/>
          <p:nvPr/>
        </p:nvSpPr>
        <p:spPr>
          <a:xfrm>
            <a:off x="10642702" y="1693469"/>
            <a:ext cx="676656" cy="267005"/>
          </a:xfrm>
          <a:prstGeom prst="roundRect">
            <a:avLst>
              <a:gd name="adj" fmla="val 342465"/>
            </a:avLst>
          </a:prstGeom>
          <a:solidFill>
            <a:srgbClr val="0060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0613441" y="1693469"/>
            <a:ext cx="7342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 소통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6590995" y="2499055"/>
            <a:ext cx="48006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관광객과 주민이 이해하기 쉽고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거부감이 적은 친환경적 명칭 사용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6590995" y="3761842"/>
            <a:ext cx="4724705" cy="1619402"/>
          </a:xfrm>
          <a:prstGeom prst="roundRect">
            <a:avLst>
              <a:gd name="adj" fmla="val 5314"/>
            </a:avLst>
          </a:prstGeom>
          <a:solidFill>
            <a:srgbClr val="FFFFFF"/>
          </a:solidFill>
          <a:ln w="25400">
            <a:solidFill>
              <a:srgbClr val="00838F"/>
            </a:solidFill>
            <a:prstDash val="solid"/>
          </a:ln>
          <a:effectLst>
            <a:outerShdw blurRad="101600" dist="38100" dir="16200000" algn="bl" rotWithShape="0">
              <a:srgbClr val="00838F">
                <a:alpha val="10000"/>
              </a:srgbClr>
            </a:outerShdw>
          </a:effectLst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>
            <a:alphaModFix amt="50000"/>
          </a:blip>
          <a:srcRect l="-363" r="-363"/>
          <a:stretch/>
        </p:blipFill>
        <p:spPr>
          <a:xfrm>
            <a:off x="7788859" y="4019702"/>
            <a:ext cx="142646" cy="161849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7767828" y="4028846"/>
            <a:ext cx="237561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3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북한강 수변관리 이용료</a:t>
            </a:r>
            <a:endParaRPr lang="en-US" sz="15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>
            <a:alphaModFix amt="50000"/>
          </a:blip>
          <a:srcRect l="-363" r="-363"/>
          <a:stretch/>
        </p:blipFill>
        <p:spPr>
          <a:xfrm>
            <a:off x="9976104" y="4019702"/>
            <a:ext cx="142646" cy="161849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752844" y="4432097"/>
            <a:ext cx="44010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60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</a:t>
            </a:r>
            <a:endParaRPr lang="en-US" sz="12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8">
            <a:alphaModFix amt="50000"/>
          </a:blip>
          <a:srcRect l="-363" r="-363"/>
          <a:stretch/>
        </p:blipFill>
        <p:spPr>
          <a:xfrm>
            <a:off x="7669987" y="4799686"/>
            <a:ext cx="142646" cy="161849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598664" y="4808830"/>
            <a:ext cx="271393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3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강변환경 보전 이용료</a:t>
            </a:r>
            <a:endParaRPr lang="en-US" sz="15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9">
            <a:alphaModFix amt="50000"/>
          </a:blip>
          <a:srcRect l="-363" r="-363"/>
          <a:stretch/>
        </p:blipFill>
        <p:spPr>
          <a:xfrm>
            <a:off x="10094976" y="4799686"/>
            <a:ext cx="142646" cy="161849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870241" y="6291072"/>
            <a:ext cx="363565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60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이용료의 목적(환경보전)을 명확히 전달 </a:t>
            </a:r>
            <a:endParaRPr lang="en-US" sz="11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687361" y="6346850"/>
            <a:ext cx="142646" cy="142646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0" y="7208215"/>
            <a:ext cx="12191695" cy="190195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8"/>
          <p:cNvSpPr txBox="1"/>
          <p:nvPr/>
        </p:nvSpPr>
        <p:spPr>
          <a:xfrm>
            <a:off x="476402" y="7208215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51" name="Text 39"/>
          <p:cNvSpPr txBox="1"/>
          <p:nvPr/>
        </p:nvSpPr>
        <p:spPr>
          <a:xfrm>
            <a:off x="11647627" y="7208215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52" name="Shape 4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1"/>
          <p:cNvSpPr/>
          <p:nvPr/>
        </p:nvSpPr>
        <p:spPr>
          <a:xfrm>
            <a:off x="0" y="409651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1"/>
          <a:srcRect l="-90" r="-90"/>
          <a:stretch/>
        </p:blipFill>
        <p:spPr>
          <a:xfrm>
            <a:off x="476402" y="75895"/>
            <a:ext cx="381305" cy="30449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1000354" y="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명칭 체계</a:t>
            </a:r>
            <a:endParaRPr lang="en-US" sz="2400" dirty="0"/>
          </a:p>
        </p:txBody>
      </p:sp>
      <p:sp>
        <p:nvSpPr>
          <p:cNvPr id="56" name="Shape 43"/>
          <p:cNvSpPr/>
          <p:nvPr/>
        </p:nvSpPr>
        <p:spPr>
          <a:xfrm>
            <a:off x="3044038" y="91440"/>
            <a:ext cx="9144" cy="2761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4"/>
          <p:cNvSpPr txBox="1"/>
          <p:nvPr/>
        </p:nvSpPr>
        <p:spPr>
          <a:xfrm>
            <a:off x="3243377" y="91440"/>
            <a:ext cx="13341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명칭 전략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571500" y="1333195"/>
            <a:ext cx="5333695" cy="466709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 t="-2496" b="-2496"/>
          <a:stretch/>
        </p:blipFill>
        <p:spPr>
          <a:xfrm>
            <a:off x="3534156" y="3800246"/>
            <a:ext cx="2562149" cy="23911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6286500" y="1333195"/>
            <a:ext cx="5333695" cy="4667098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>
            <a:alphaModFix amt="5000"/>
          </a:blip>
          <a:srcRect l="-11240" r="-11240"/>
          <a:stretch/>
        </p:blipFill>
        <p:spPr>
          <a:xfrm>
            <a:off x="10163556" y="4038905"/>
            <a:ext cx="1647749" cy="2152498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476402" y="6576365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10" name="Text 4"/>
          <p:cNvSpPr txBox="1"/>
          <p:nvPr/>
        </p:nvSpPr>
        <p:spPr>
          <a:xfrm>
            <a:off x="11647627" y="6576365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952805" y="1790395"/>
            <a:ext cx="1447495" cy="381305"/>
          </a:xfrm>
          <a:prstGeom prst="roundRect">
            <a:avLst>
              <a:gd name="adj" fmla="val 239808"/>
            </a:avLst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923544" y="1790395"/>
            <a:ext cx="150601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200" b="1" kern="0" spc="60" dirty="0">
                <a:solidFill>
                  <a:srgbClr val="0083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공익 가치 강조형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43500" y="1790395"/>
            <a:ext cx="381305" cy="38130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52805" y="2842870"/>
            <a:ext cx="4698187" cy="1314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3333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오늘 당신이 지출한 </a:t>
            </a:r>
            <a:r>
              <a:rPr lang="en-US" sz="2600" dirty="0">
                <a:solidFill>
                  <a:srgbClr val="00838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3,000원</a:t>
            </a:r>
            <a:r>
              <a:rPr lang="en-US" sz="2600" dirty="0">
                <a:solidFill>
                  <a:srgbClr val="33333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,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33333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북한강을 지키는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33333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생명수가 되어 돌아옵니다. </a:t>
            </a:r>
            <a:endParaRPr lang="en-US" sz="2600" dirty="0"/>
          </a:p>
        </p:txBody>
      </p:sp>
      <p:sp>
        <p:nvSpPr>
          <p:cNvPr id="15" name="Text 8"/>
          <p:cNvSpPr txBox="1"/>
          <p:nvPr/>
        </p:nvSpPr>
        <p:spPr>
          <a:xfrm>
            <a:off x="857707" y="2266798"/>
            <a:ext cx="38862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00838F">
                    <a:alpha val="20000"/>
                  </a:srgbClr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“</a:t>
            </a:r>
            <a:endParaRPr lang="en-US" sz="4800" dirty="0"/>
          </a:p>
        </p:txBody>
      </p:sp>
      <p:sp>
        <p:nvSpPr>
          <p:cNvPr id="16" name="Text 9"/>
          <p:cNvSpPr txBox="1"/>
          <p:nvPr/>
        </p:nvSpPr>
        <p:spPr>
          <a:xfrm>
            <a:off x="5255971" y="3354934"/>
            <a:ext cx="38862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00838F">
                    <a:alpha val="20000"/>
                  </a:srgbClr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”</a:t>
            </a:r>
            <a:endParaRPr lang="en-US" sz="4800" dirty="0"/>
          </a:p>
        </p:txBody>
      </p:sp>
      <p:sp>
        <p:nvSpPr>
          <p:cNvPr id="17" name="Shape 10"/>
          <p:cNvSpPr/>
          <p:nvPr/>
        </p:nvSpPr>
        <p:spPr>
          <a:xfrm>
            <a:off x="952805" y="4726534"/>
            <a:ext cx="4572000" cy="895198"/>
          </a:xfrm>
          <a:prstGeom prst="roundRect">
            <a:avLst>
              <a:gd name="adj" fmla="val 21733"/>
            </a:avLst>
          </a:prstGeom>
          <a:solidFill>
            <a:srgbClr val="000000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1399946" y="4917643"/>
            <a:ext cx="40105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소액의 이용료가 단순 비용이 아닌, 환경 보전과 관광 인프라 투자로 이어지는 선순환적 공익 가치를 강조합니다. 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43000" y="4955134"/>
            <a:ext cx="161849" cy="161849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667805" y="1790395"/>
            <a:ext cx="1447495" cy="381305"/>
          </a:xfrm>
          <a:prstGeom prst="roundRect">
            <a:avLst>
              <a:gd name="adj" fmla="val 239808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6638544" y="1790395"/>
            <a:ext cx="150601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200" b="1" kern="0" spc="60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세대 책임형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 t="-24" b="-24"/>
          <a:stretch/>
        </p:blipFill>
        <p:spPr>
          <a:xfrm>
            <a:off x="10763402" y="1790395"/>
            <a:ext cx="476402" cy="3813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667805" y="2714854"/>
            <a:ext cx="4698187" cy="1314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3333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선조가 지켜온 푸른 강산,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33333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3,000원의 약속으로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33333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우리 </a:t>
            </a:r>
            <a:r>
              <a:rPr lang="en-US" sz="2600" dirty="0">
                <a:solidFill>
                  <a:srgbClr val="1565C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아이들</a:t>
            </a:r>
            <a:r>
              <a:rPr lang="en-US" sz="2600" dirty="0">
                <a:solidFill>
                  <a:srgbClr val="33333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에게 물려줍니다. </a:t>
            </a:r>
            <a:endParaRPr lang="en-US" sz="2600" dirty="0"/>
          </a:p>
        </p:txBody>
      </p:sp>
      <p:sp>
        <p:nvSpPr>
          <p:cNvPr id="24" name="Text 15"/>
          <p:cNvSpPr txBox="1"/>
          <p:nvPr/>
        </p:nvSpPr>
        <p:spPr>
          <a:xfrm>
            <a:off x="6572707" y="2266798"/>
            <a:ext cx="38862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1565C0">
                    <a:alpha val="20000"/>
                  </a:srgbClr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“</a:t>
            </a:r>
            <a:endParaRPr lang="en-US" sz="4800" dirty="0"/>
          </a:p>
        </p:txBody>
      </p:sp>
      <p:sp>
        <p:nvSpPr>
          <p:cNvPr id="25" name="Text 16"/>
          <p:cNvSpPr txBox="1"/>
          <p:nvPr/>
        </p:nvSpPr>
        <p:spPr>
          <a:xfrm>
            <a:off x="10970971" y="3098902"/>
            <a:ext cx="38862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1565C0">
                    <a:alpha val="20000"/>
                  </a:srgbClr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”</a:t>
            </a:r>
            <a:endParaRPr lang="en-US" sz="4800" dirty="0"/>
          </a:p>
        </p:txBody>
      </p:sp>
      <p:sp>
        <p:nvSpPr>
          <p:cNvPr id="26" name="Shape 17"/>
          <p:cNvSpPr/>
          <p:nvPr/>
        </p:nvSpPr>
        <p:spPr>
          <a:xfrm>
            <a:off x="6667805" y="4470502"/>
            <a:ext cx="4572000" cy="1152144"/>
          </a:xfrm>
          <a:prstGeom prst="roundRect">
            <a:avLst>
              <a:gd name="adj" fmla="val 13118"/>
            </a:avLst>
          </a:prstGeom>
          <a:solidFill>
            <a:srgbClr val="000000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7114946" y="4661611"/>
            <a:ext cx="401055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자연자산의 보존 의무와 미래 세대에 대한 책임을 연결하여, 이용료 지불에 대한 심리적 저항감을 낮추고 자부심을 고취합니다. </a:t>
            </a:r>
            <a:endParaRPr lang="en-US" sz="12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858000" y="4699102"/>
            <a:ext cx="161849" cy="161849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0" y="809244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76402" y="276149"/>
            <a:ext cx="304495" cy="30449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23544" y="200254"/>
            <a:ext cx="1820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메시지</a:t>
            </a:r>
            <a:endParaRPr lang="en-US" sz="2400" dirty="0"/>
          </a:p>
        </p:txBody>
      </p:sp>
      <p:sp>
        <p:nvSpPr>
          <p:cNvPr id="33" name="Shape 22"/>
          <p:cNvSpPr/>
          <p:nvPr/>
        </p:nvSpPr>
        <p:spPr>
          <a:xfrm>
            <a:off x="2602382" y="291694"/>
            <a:ext cx="9144" cy="2761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3"/>
          <p:cNvSpPr txBox="1"/>
          <p:nvPr/>
        </p:nvSpPr>
        <p:spPr>
          <a:xfrm>
            <a:off x="2801722" y="291694"/>
            <a:ext cx="197419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홍보 카피 및 소통 전략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238098"/>
            <a:ext cx="11048695" cy="952805"/>
          </a:xfrm>
          <a:prstGeom prst="roundRect">
            <a:avLst>
              <a:gd name="adj" fmla="val 2879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238098"/>
            <a:ext cx="75895" cy="952805"/>
          </a:xfrm>
          <a:prstGeom prst="roundRect">
            <a:avLst>
              <a:gd name="adj" fmla="val 361447"/>
            </a:avLst>
          </a:prstGeom>
          <a:solidFill>
            <a:srgbClr val="00838F"/>
          </a:solidFill>
          <a:ln w="12700">
            <a:solidFill>
              <a:srgbClr val="0083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8917" y="1476756"/>
            <a:ext cx="476402" cy="476402"/>
          </a:xfrm>
          <a:prstGeom prst="ellipse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2001622" y="1600200"/>
            <a:ext cx="171907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467966" y="1554480"/>
            <a:ext cx="333938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62828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수변 이용료는 세금이 아닙니다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384" r="-384"/>
          <a:stretch/>
        </p:blipFill>
        <p:spPr>
          <a:xfrm>
            <a:off x="5579669" y="1476756"/>
            <a:ext cx="19202" cy="4764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79262" y="1476756"/>
            <a:ext cx="476402" cy="476402"/>
          </a:xfrm>
          <a:prstGeom prst="ellipse">
            <a:avLst/>
          </a:prstGeom>
          <a:solidFill>
            <a:srgbClr val="E0F2F1"/>
          </a:solidFill>
          <a:ln w="25400">
            <a:solidFill>
              <a:srgbClr val="00695C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6117336" y="1600200"/>
            <a:ext cx="200254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98310" y="1554480"/>
            <a:ext cx="458297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D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 수변시설 이용에 대한 "사용료"입니다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t="-398" b="-398"/>
          <a:stretch/>
        </p:blipFill>
        <p:spPr>
          <a:xfrm>
            <a:off x="1047902" y="4219956"/>
            <a:ext cx="10096805" cy="3840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476402" y="6576365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1647627" y="6576365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398" b="-398"/>
          <a:stretch/>
        </p:blipFill>
        <p:spPr>
          <a:xfrm>
            <a:off x="1047902" y="4219956"/>
            <a:ext cx="10096805" cy="3840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3444545" y="4067251"/>
            <a:ext cx="333756" cy="3429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3539642" y="4134002"/>
            <a:ext cx="142646" cy="2286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316675" y="4067251"/>
            <a:ext cx="333756" cy="3429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6411773" y="4134002"/>
            <a:ext cx="142646" cy="22860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9079078" y="4067251"/>
            <a:ext cx="333756" cy="3429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9174175" y="4134002"/>
            <a:ext cx="142646" cy="228600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rcRect t="-4" b="-4"/>
          <a:stretch/>
        </p:blipFill>
        <p:spPr>
          <a:xfrm>
            <a:off x="571500" y="3183941"/>
            <a:ext cx="2286000" cy="2108606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1421892" y="4326941"/>
            <a:ext cx="58521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관광객</a:t>
            </a:r>
            <a:endParaRPr lang="en-US" sz="1400" dirty="0"/>
          </a:p>
        </p:txBody>
      </p:sp>
      <p:sp>
        <p:nvSpPr>
          <p:cNvPr id="26" name="Text 15"/>
          <p:cNvSpPr txBox="1"/>
          <p:nvPr/>
        </p:nvSpPr>
        <p:spPr>
          <a:xfrm>
            <a:off x="1313078" y="4648810"/>
            <a:ext cx="8101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 이용 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이용료 납부</a:t>
            </a:r>
            <a:endParaRPr lang="en-US" sz="11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33195" y="3422599"/>
            <a:ext cx="761695" cy="761695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1867205" y="3412541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17"/>
          <p:cNvSpPr/>
          <p:nvPr/>
        </p:nvSpPr>
        <p:spPr>
          <a:xfrm>
            <a:off x="1828800" y="3412541"/>
            <a:ext cx="31455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1"/>
          <a:srcRect l="-90" r="-90"/>
          <a:stretch/>
        </p:blipFill>
        <p:spPr>
          <a:xfrm>
            <a:off x="1524305" y="3651199"/>
            <a:ext cx="381305" cy="304495"/>
          </a:xfrm>
          <a:prstGeom prst="rect">
            <a:avLst/>
          </a:prstGeom>
        </p:spPr>
      </p:pic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9"/>
          <a:srcRect t="-4" b="-4"/>
          <a:stretch/>
        </p:blipFill>
        <p:spPr>
          <a:xfrm>
            <a:off x="3492094" y="3183941"/>
            <a:ext cx="2286000" cy="2108606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4343400" y="4326941"/>
            <a:ext cx="58521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</a:t>
            </a:r>
            <a:endParaRPr lang="en-US" sz="1400" dirty="0"/>
          </a:p>
        </p:txBody>
      </p:sp>
      <p:sp>
        <p:nvSpPr>
          <p:cNvPr id="33" name="Text 19"/>
          <p:cNvSpPr txBox="1"/>
          <p:nvPr/>
        </p:nvSpPr>
        <p:spPr>
          <a:xfrm>
            <a:off x="4100170" y="4648810"/>
            <a:ext cx="10771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이용료 징수 대행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(티켓 발권 등)</a:t>
            </a:r>
            <a:endParaRPr lang="en-US" sz="110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254703" y="3422599"/>
            <a:ext cx="761695" cy="761695"/>
          </a:xfrm>
          <a:prstGeom prst="rect">
            <a:avLst/>
          </a:prstGeom>
        </p:spPr>
      </p:pic>
      <p:sp>
        <p:nvSpPr>
          <p:cNvPr id="35" name="Shape 20"/>
          <p:cNvSpPr/>
          <p:nvPr/>
        </p:nvSpPr>
        <p:spPr>
          <a:xfrm>
            <a:off x="4787798" y="3412541"/>
            <a:ext cx="237744" cy="23774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1"/>
          <p:cNvSpPr/>
          <p:nvPr/>
        </p:nvSpPr>
        <p:spPr>
          <a:xfrm>
            <a:off x="4749394" y="3412541"/>
            <a:ext cx="31455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3"/>
          <a:srcRect l="-50" r="-50"/>
          <a:stretch/>
        </p:blipFill>
        <p:spPr>
          <a:xfrm>
            <a:off x="4464101" y="3651199"/>
            <a:ext cx="342900" cy="304495"/>
          </a:xfrm>
          <a:prstGeom prst="rect">
            <a:avLst/>
          </a:prstGeom>
        </p:spPr>
      </p:pic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9"/>
          <a:srcRect t="-4" b="-4"/>
          <a:stretch/>
        </p:blipFill>
        <p:spPr>
          <a:xfrm>
            <a:off x="6413602" y="3183941"/>
            <a:ext cx="2286000" cy="2108606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7263994" y="4326941"/>
            <a:ext cx="58521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가평군</a:t>
            </a:r>
            <a:endParaRPr lang="en-US" sz="1400" dirty="0"/>
          </a:p>
        </p:txBody>
      </p:sp>
      <p:sp>
        <p:nvSpPr>
          <p:cNvPr id="40" name="Text 23"/>
          <p:cNvSpPr txBox="1"/>
          <p:nvPr/>
        </p:nvSpPr>
        <p:spPr>
          <a:xfrm>
            <a:off x="7087514" y="4648810"/>
            <a:ext cx="9436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징수액 정산 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수입 관리</a:t>
            </a:r>
            <a:endParaRPr lang="en-US" sz="1100" dirty="0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175297" y="3422599"/>
            <a:ext cx="761695" cy="761695"/>
          </a:xfrm>
          <a:prstGeom prst="rect">
            <a:avLst/>
          </a:prstGeom>
        </p:spPr>
      </p:pic>
      <p:sp>
        <p:nvSpPr>
          <p:cNvPr id="42" name="Shape 24"/>
          <p:cNvSpPr/>
          <p:nvPr/>
        </p:nvSpPr>
        <p:spPr>
          <a:xfrm>
            <a:off x="7708392" y="3412541"/>
            <a:ext cx="237744" cy="237744"/>
          </a:xfrm>
          <a:prstGeom prst="ellipse">
            <a:avLst/>
          </a:prstGeom>
          <a:solidFill>
            <a:srgbClr val="3949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5"/>
          <p:cNvSpPr/>
          <p:nvPr/>
        </p:nvSpPr>
        <p:spPr>
          <a:xfrm>
            <a:off x="7670902" y="3412541"/>
            <a:ext cx="31455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403897" y="3651199"/>
            <a:ext cx="304495" cy="304495"/>
          </a:xfrm>
          <a:prstGeom prst="rect">
            <a:avLst/>
          </a:prstGeom>
        </p:spPr>
      </p:pic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16"/>
          <a:srcRect t="-4" b="-4"/>
          <a:stretch/>
        </p:blipFill>
        <p:spPr>
          <a:xfrm>
            <a:off x="9334195" y="3183941"/>
            <a:ext cx="2286000" cy="2108606"/>
          </a:xfrm>
          <a:prstGeom prst="rect">
            <a:avLst/>
          </a:prstGeom>
        </p:spPr>
      </p:pic>
      <p:sp>
        <p:nvSpPr>
          <p:cNvPr id="46" name="Text 26"/>
          <p:cNvSpPr txBox="1"/>
          <p:nvPr/>
        </p:nvSpPr>
        <p:spPr>
          <a:xfrm>
            <a:off x="9892894" y="4326941"/>
            <a:ext cx="116951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관광특별회계</a:t>
            </a:r>
            <a:endParaRPr lang="en-US" sz="1400" dirty="0"/>
          </a:p>
        </p:txBody>
      </p:sp>
      <p:sp>
        <p:nvSpPr>
          <p:cNvPr id="47" name="Text 27"/>
          <p:cNvSpPr txBox="1"/>
          <p:nvPr/>
        </p:nvSpPr>
        <p:spPr>
          <a:xfrm>
            <a:off x="9942271" y="4648810"/>
            <a:ext cx="10771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자원 재투자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관리</a:t>
            </a:r>
            <a:endParaRPr lang="en-US" sz="1100" dirty="0"/>
          </a:p>
        </p:txBody>
      </p:sp>
      <p:pic>
        <p:nvPicPr>
          <p:cNvPr id="48" name="Image 18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095890" y="3422599"/>
            <a:ext cx="761695" cy="761695"/>
          </a:xfrm>
          <a:prstGeom prst="rect">
            <a:avLst/>
          </a:prstGeom>
        </p:spPr>
      </p:pic>
      <p:sp>
        <p:nvSpPr>
          <p:cNvPr id="49" name="Shape 28"/>
          <p:cNvSpPr/>
          <p:nvPr/>
        </p:nvSpPr>
        <p:spPr>
          <a:xfrm>
            <a:off x="10629900" y="3412541"/>
            <a:ext cx="237744" cy="23774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29"/>
          <p:cNvSpPr/>
          <p:nvPr/>
        </p:nvSpPr>
        <p:spPr>
          <a:xfrm>
            <a:off x="10591495" y="3412541"/>
            <a:ext cx="31455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pic>
        <p:nvPicPr>
          <p:cNvPr id="51" name="Image 19" descr="preencoded.png"/>
          <p:cNvPicPr>
            <a:picLocks noChangeAspect="1"/>
          </p:cNvPicPr>
          <p:nvPr/>
        </p:nvPicPr>
        <p:blipFill>
          <a:blip r:embed="rId18"/>
          <a:srcRect l="-50" r="-50"/>
          <a:stretch/>
        </p:blipFill>
        <p:spPr>
          <a:xfrm>
            <a:off x="10306202" y="3651199"/>
            <a:ext cx="342900" cy="304495"/>
          </a:xfrm>
          <a:prstGeom prst="rect">
            <a:avLst/>
          </a:prstGeom>
        </p:spPr>
      </p:pic>
      <p:sp>
        <p:nvSpPr>
          <p:cNvPr id="52" name="Shape 30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31"/>
          <p:cNvSpPr/>
          <p:nvPr/>
        </p:nvSpPr>
        <p:spPr>
          <a:xfrm>
            <a:off x="0" y="809244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20" descr="preencoded.png"/>
          <p:cNvPicPr>
            <a:picLocks noChangeAspect="1"/>
          </p:cNvPicPr>
          <p:nvPr/>
        </p:nvPicPr>
        <p:blipFill>
          <a:blip r:embed="rId19"/>
          <a:srcRect l="-50" r="-50"/>
          <a:stretch/>
        </p:blipFill>
        <p:spPr>
          <a:xfrm>
            <a:off x="476402" y="276149"/>
            <a:ext cx="342900" cy="304495"/>
          </a:xfrm>
          <a:prstGeom prst="rect">
            <a:avLst/>
          </a:prstGeom>
        </p:spPr>
      </p:pic>
      <p:sp>
        <p:nvSpPr>
          <p:cNvPr id="55" name="Text 32"/>
          <p:cNvSpPr txBox="1"/>
          <p:nvPr/>
        </p:nvSpPr>
        <p:spPr>
          <a:xfrm>
            <a:off x="961949" y="200254"/>
            <a:ext cx="1495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징수 구조</a:t>
            </a:r>
            <a:endParaRPr lang="en-US" sz="2400" dirty="0"/>
          </a:p>
        </p:txBody>
      </p:sp>
      <p:sp>
        <p:nvSpPr>
          <p:cNvPr id="56" name="Shape 33"/>
          <p:cNvSpPr/>
          <p:nvPr/>
        </p:nvSpPr>
        <p:spPr>
          <a:xfrm>
            <a:off x="2360066" y="291694"/>
            <a:ext cx="9144" cy="2761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34"/>
          <p:cNvSpPr txBox="1"/>
          <p:nvPr/>
        </p:nvSpPr>
        <p:spPr>
          <a:xfrm>
            <a:off x="2559406" y="291694"/>
            <a:ext cx="2426818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투명하고 효율적인 순환 체계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1652321"/>
            <a:ext cx="11239805" cy="857707"/>
          </a:xfrm>
          <a:prstGeom prst="roundRect">
            <a:avLst>
              <a:gd name="adj" fmla="val 2842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6402" y="1652321"/>
            <a:ext cx="57607" cy="857707"/>
          </a:xfrm>
          <a:prstGeom prst="roundRect">
            <a:avLst>
              <a:gd name="adj" fmla="val 423282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9302" y="1966874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932127"/>
            <a:ext cx="266821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재원 확보 목표 (연간)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05365" y="1795882"/>
            <a:ext cx="17602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D47A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360억 </a:t>
            </a:r>
            <a:r>
              <a:rPr lang="en-US" sz="1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3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047902" y="3414370"/>
            <a:ext cx="8001000" cy="3840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047902" y="3414370"/>
            <a:ext cx="6743700" cy="384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061411" y="4796028"/>
            <a:ext cx="219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BB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871362" y="4796028"/>
            <a:ext cx="219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BB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8681314" y="4796028"/>
            <a:ext cx="219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BB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76402" y="6576365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1647627" y="6576365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78915" y="3081528"/>
            <a:ext cx="666598" cy="66659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50569" y="3081528"/>
            <a:ext cx="7242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76402" y="3938321"/>
            <a:ext cx="2476195" cy="1552651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6402" y="3938321"/>
            <a:ext cx="2472538" cy="47549"/>
          </a:xfrm>
          <a:prstGeom prst="rect">
            <a:avLst/>
          </a:prstGeom>
          <a:solidFill>
            <a:srgbClr val="4FC3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470355" y="4138574"/>
            <a:ext cx="485546" cy="247802"/>
          </a:xfrm>
          <a:prstGeom prst="roundRect">
            <a:avLst>
              <a:gd name="adj" fmla="val 369004"/>
            </a:avLst>
          </a:prstGeom>
          <a:solidFill>
            <a:srgbClr val="4FC3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442009" y="4138574"/>
            <a:ext cx="5431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>
            <a:alphaModFix amt="30000"/>
          </a:blip>
          <a:srcRect l="-50" r="-50"/>
          <a:stretch/>
        </p:blipFill>
        <p:spPr>
          <a:xfrm>
            <a:off x="2463394" y="4996282"/>
            <a:ext cx="342900" cy="3044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22883" y="4530852"/>
            <a:ext cx="11804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북한강</a:t>
            </a: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·수변시설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24535" y="4935017"/>
            <a:ext cx="21799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90</a:t>
            </a: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1752905" y="503925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12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01338" y="3081528"/>
            <a:ext cx="666598" cy="66659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272991" y="3081528"/>
            <a:ext cx="7242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3398825" y="3938321"/>
            <a:ext cx="2476195" cy="1552651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3398825" y="3938321"/>
            <a:ext cx="2472538" cy="47549"/>
          </a:xfrm>
          <a:prstGeom prst="rect">
            <a:avLst/>
          </a:prstGeom>
          <a:solidFill>
            <a:srgbClr val="0288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4392778" y="4138574"/>
            <a:ext cx="485546" cy="247802"/>
          </a:xfrm>
          <a:prstGeom prst="roundRect">
            <a:avLst>
              <a:gd name="adj" fmla="val 369004"/>
            </a:avLst>
          </a:prstGeom>
          <a:solidFill>
            <a:srgbClr val="0288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364431" y="4138574"/>
            <a:ext cx="5431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</a:t>
            </a:r>
            <a:endParaRPr lang="en-US" sz="9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>
            <a:alphaModFix amt="30000"/>
          </a:blip>
          <a:srcRect/>
          <a:stretch/>
        </p:blipFill>
        <p:spPr>
          <a:xfrm>
            <a:off x="5423306" y="4996282"/>
            <a:ext cx="304495" cy="30449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102913" y="4530852"/>
            <a:ext cx="107259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공공관광시설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3546958" y="4935017"/>
            <a:ext cx="21799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120</a:t>
            </a: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1900" dirty="0"/>
          </a:p>
        </p:txBody>
      </p:sp>
      <p:sp>
        <p:nvSpPr>
          <p:cNvPr id="37" name="Text 28"/>
          <p:cNvSpPr txBox="1"/>
          <p:nvPr/>
        </p:nvSpPr>
        <p:spPr>
          <a:xfrm>
            <a:off x="4749394" y="503925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12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23760" y="3081528"/>
            <a:ext cx="666598" cy="66659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195414" y="3081528"/>
            <a:ext cx="7242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</a:t>
            </a:r>
            <a:endParaRPr lang="en-US" sz="1400" dirty="0"/>
          </a:p>
        </p:txBody>
      </p:sp>
      <p:sp>
        <p:nvSpPr>
          <p:cNvPr id="40" name="Shape 30"/>
          <p:cNvSpPr/>
          <p:nvPr/>
        </p:nvSpPr>
        <p:spPr>
          <a:xfrm>
            <a:off x="6320333" y="3938321"/>
            <a:ext cx="2476195" cy="1552651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6320333" y="3938321"/>
            <a:ext cx="2472538" cy="47549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7315200" y="4138574"/>
            <a:ext cx="485546" cy="247802"/>
          </a:xfrm>
          <a:prstGeom prst="roundRect">
            <a:avLst>
              <a:gd name="adj" fmla="val 369004"/>
            </a:avLst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7285939" y="4138574"/>
            <a:ext cx="5431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</a:t>
            </a:r>
            <a:endParaRPr lang="en-US" sz="9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9">
            <a:alphaModFix amt="30000"/>
          </a:blip>
          <a:srcRect l="-50" r="-50"/>
          <a:stretch/>
        </p:blipFill>
        <p:spPr>
          <a:xfrm>
            <a:off x="8307324" y="4996282"/>
            <a:ext cx="342900" cy="30449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7025335" y="4530852"/>
            <a:ext cx="107259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하천점용시설</a:t>
            </a:r>
            <a:endParaRPr lang="en-US" sz="1300" dirty="0"/>
          </a:p>
        </p:txBody>
      </p:sp>
      <p:sp>
        <p:nvSpPr>
          <p:cNvPr id="46" name="Text 35"/>
          <p:cNvSpPr txBox="1"/>
          <p:nvPr/>
        </p:nvSpPr>
        <p:spPr>
          <a:xfrm>
            <a:off x="6469380" y="4935017"/>
            <a:ext cx="21799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100</a:t>
            </a: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1900" dirty="0"/>
          </a:p>
        </p:txBody>
      </p:sp>
      <p:sp>
        <p:nvSpPr>
          <p:cNvPr id="47" name="Text 36"/>
          <p:cNvSpPr txBox="1"/>
          <p:nvPr/>
        </p:nvSpPr>
        <p:spPr>
          <a:xfrm>
            <a:off x="7671816" y="503925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12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146182" y="3081528"/>
            <a:ext cx="666598" cy="666598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10116922" y="3081528"/>
            <a:ext cx="7242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3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협약</a:t>
            </a:r>
            <a:endParaRPr lang="en-US" sz="1200" dirty="0"/>
          </a:p>
        </p:txBody>
      </p:sp>
      <p:sp>
        <p:nvSpPr>
          <p:cNvPr id="50" name="Shape 38"/>
          <p:cNvSpPr/>
          <p:nvPr/>
        </p:nvSpPr>
        <p:spPr>
          <a:xfrm>
            <a:off x="9242755" y="3938321"/>
            <a:ext cx="2476195" cy="1552651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1" name="Shape 39"/>
          <p:cNvSpPr/>
          <p:nvPr/>
        </p:nvSpPr>
        <p:spPr>
          <a:xfrm>
            <a:off x="9242755" y="3938321"/>
            <a:ext cx="2472538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10142525" y="4138574"/>
            <a:ext cx="676656" cy="247802"/>
          </a:xfrm>
          <a:prstGeom prst="roundRect">
            <a:avLst>
              <a:gd name="adj" fmla="val 369004"/>
            </a:avLst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1"/>
          <p:cNvSpPr/>
          <p:nvPr/>
        </p:nvSpPr>
        <p:spPr>
          <a:xfrm>
            <a:off x="10114178" y="4138574"/>
            <a:ext cx="7342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 협력</a:t>
            </a:r>
            <a:endParaRPr lang="en-US" sz="900" dirty="0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1">
            <a:alphaModFix amt="30000"/>
          </a:blip>
          <a:srcRect l="-90" r="-90"/>
          <a:stretch/>
        </p:blipFill>
        <p:spPr>
          <a:xfrm>
            <a:off x="11191342" y="4996282"/>
            <a:ext cx="381305" cy="30449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10069373" y="4530852"/>
            <a:ext cx="8229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협약 수입</a:t>
            </a:r>
            <a:endParaRPr lang="en-US" sz="1300" dirty="0"/>
          </a:p>
        </p:txBody>
      </p:sp>
      <p:sp>
        <p:nvSpPr>
          <p:cNvPr id="56" name="Text 43"/>
          <p:cNvSpPr txBox="1"/>
          <p:nvPr/>
        </p:nvSpPr>
        <p:spPr>
          <a:xfrm>
            <a:off x="9391802" y="4935017"/>
            <a:ext cx="21799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50</a:t>
            </a: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1900" dirty="0"/>
          </a:p>
        </p:txBody>
      </p:sp>
      <p:sp>
        <p:nvSpPr>
          <p:cNvPr id="57" name="Text 44"/>
          <p:cNvSpPr txBox="1"/>
          <p:nvPr/>
        </p:nvSpPr>
        <p:spPr>
          <a:xfrm>
            <a:off x="10519258" y="503925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1200" dirty="0"/>
          </a:p>
        </p:txBody>
      </p:sp>
      <p:sp>
        <p:nvSpPr>
          <p:cNvPr id="58" name="Shape 45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46"/>
          <p:cNvSpPr/>
          <p:nvPr/>
        </p:nvSpPr>
        <p:spPr>
          <a:xfrm>
            <a:off x="0" y="809244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2"/>
          <a:srcRect l="-50" r="-50"/>
          <a:stretch/>
        </p:blipFill>
        <p:spPr>
          <a:xfrm>
            <a:off x="476402" y="276149"/>
            <a:ext cx="342900" cy="304495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961949" y="200254"/>
            <a:ext cx="2666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도입 계획</a:t>
            </a:r>
            <a:endParaRPr lang="en-US" sz="2400" dirty="0"/>
          </a:p>
        </p:txBody>
      </p:sp>
      <p:sp>
        <p:nvSpPr>
          <p:cNvPr id="62" name="Shape 48"/>
          <p:cNvSpPr/>
          <p:nvPr/>
        </p:nvSpPr>
        <p:spPr>
          <a:xfrm>
            <a:off x="3286354" y="291694"/>
            <a:ext cx="9144" cy="2761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49"/>
          <p:cNvSpPr txBox="1"/>
          <p:nvPr/>
        </p:nvSpPr>
        <p:spPr>
          <a:xfrm>
            <a:off x="3485693" y="291694"/>
            <a:ext cx="288859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안정적인 재원 확보를 위한 로드맵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238098"/>
            <a:ext cx="11048695" cy="790956"/>
          </a:xfrm>
          <a:prstGeom prst="roundRect">
            <a:avLst>
              <a:gd name="adj" fmla="val 3342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238098"/>
            <a:ext cx="47549" cy="790956"/>
          </a:xfrm>
          <a:prstGeom prst="roundRect">
            <a:avLst>
              <a:gd name="adj" fmla="val 556068"/>
            </a:avLst>
          </a:prstGeom>
          <a:solidFill>
            <a:srgbClr val="00838F"/>
          </a:solidFill>
          <a:ln w="12700">
            <a:solidFill>
              <a:srgbClr val="0083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1429207"/>
            <a:ext cx="952805" cy="409651"/>
          </a:xfrm>
          <a:prstGeom prst="roundRect">
            <a:avLst>
              <a:gd name="adj" fmla="val 62292"/>
            </a:avLst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7902" y="1505102"/>
            <a:ext cx="8229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0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부과 대상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2001" b="-2001"/>
          <a:stretch/>
        </p:blipFill>
        <p:spPr>
          <a:xfrm>
            <a:off x="3657600" y="1535278"/>
            <a:ext cx="9144" cy="19019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t="-1328" b="-1328"/>
          <a:stretch/>
        </p:blipFill>
        <p:spPr>
          <a:xfrm>
            <a:off x="1941271" y="1530706"/>
            <a:ext cx="219456" cy="20025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231136" y="1520299"/>
            <a:ext cx="124907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북한강 </a:t>
            </a:r>
            <a:r>
              <a:rPr lang="en-US" sz="14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수변시설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571500" y="2308860"/>
            <a:ext cx="3492094" cy="3691433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>
            <a:alphaModFix amt="5000"/>
          </a:blip>
          <a:srcRect t="-4948" b="-4948"/>
          <a:stretch/>
        </p:blipFill>
        <p:spPr>
          <a:xfrm>
            <a:off x="1663294" y="3924605"/>
            <a:ext cx="2686507" cy="236189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349801" y="2308860"/>
            <a:ext cx="3492094" cy="3691433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>
            <a:alphaModFix amt="5000"/>
          </a:blip>
          <a:srcRect t="-2525" b="-2525"/>
          <a:stretch/>
        </p:blipFill>
        <p:spPr>
          <a:xfrm>
            <a:off x="5670194" y="3991356"/>
            <a:ext cx="2457907" cy="2295144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9"/>
          <a:srcRect t="-1" b="-1"/>
          <a:stretch/>
        </p:blipFill>
        <p:spPr>
          <a:xfrm>
            <a:off x="8128102" y="2308860"/>
            <a:ext cx="3492094" cy="3691433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0">
            <a:alphaModFix amt="10000"/>
          </a:blip>
          <a:srcRect/>
          <a:stretch/>
        </p:blipFill>
        <p:spPr>
          <a:xfrm>
            <a:off x="9667951" y="4048049"/>
            <a:ext cx="2238451" cy="2238451"/>
          </a:xfrm>
          <a:prstGeom prst="rect">
            <a:avLst/>
          </a:prstGeom>
        </p:spPr>
      </p:pic>
      <p:sp>
        <p:nvSpPr>
          <p:cNvPr id="19" name="Shape 8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476402" y="6576365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21" name="Text 10"/>
          <p:cNvSpPr txBox="1"/>
          <p:nvPr/>
        </p:nvSpPr>
        <p:spPr>
          <a:xfrm>
            <a:off x="11647627" y="6576365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9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889150" y="3082442"/>
            <a:ext cx="857707" cy="857707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2"/>
          <a:srcRect t="-279" b="-279"/>
          <a:stretch/>
        </p:blipFill>
        <p:spPr>
          <a:xfrm>
            <a:off x="2050999" y="3297326"/>
            <a:ext cx="533095" cy="428854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1071677" y="4618634"/>
            <a:ext cx="2499055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dirty="0">
                <a:solidFill>
                  <a:srgbClr val="1565C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300</a:t>
            </a:r>
            <a:r>
              <a:rPr lang="en-US" sz="1800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명</a:t>
            </a:r>
            <a:endParaRPr lang="en-US" sz="4500" dirty="0"/>
          </a:p>
        </p:txBody>
      </p:sp>
      <p:sp>
        <p:nvSpPr>
          <p:cNvPr id="25" name="Text 12"/>
          <p:cNvSpPr txBox="1"/>
          <p:nvPr/>
        </p:nvSpPr>
        <p:spPr>
          <a:xfrm>
            <a:off x="1453896" y="4177894"/>
            <a:ext cx="173278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55555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예상 이용객</a:t>
            </a:r>
            <a:endParaRPr lang="en-US" sz="1500" dirty="0"/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667451" y="3082442"/>
            <a:ext cx="857707" cy="857707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4"/>
          <a:srcRect t="-636" b="-636"/>
          <a:stretch/>
        </p:blipFill>
        <p:spPr>
          <a:xfrm>
            <a:off x="5857646" y="3297326"/>
            <a:ext cx="476402" cy="428854"/>
          </a:xfrm>
          <a:prstGeom prst="rect">
            <a:avLst/>
          </a:prstGeom>
        </p:spPr>
      </p:pic>
      <p:sp>
        <p:nvSpPr>
          <p:cNvPr id="28" name="Text 13"/>
          <p:cNvSpPr txBox="1"/>
          <p:nvPr/>
        </p:nvSpPr>
        <p:spPr>
          <a:xfrm>
            <a:off x="4706417" y="4618634"/>
            <a:ext cx="2786177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dirty="0">
                <a:solidFill>
                  <a:srgbClr val="00838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3,000</a:t>
            </a:r>
            <a:r>
              <a:rPr lang="en-US" sz="1800" dirty="0">
                <a:solidFill>
                  <a:srgbClr val="0083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4500" dirty="0"/>
          </a:p>
        </p:txBody>
      </p:sp>
      <p:sp>
        <p:nvSpPr>
          <p:cNvPr id="29" name="Text 14"/>
          <p:cNvSpPr txBox="1"/>
          <p:nvPr/>
        </p:nvSpPr>
        <p:spPr>
          <a:xfrm>
            <a:off x="5439766" y="4177894"/>
            <a:ext cx="13158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55555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1인당 이용료</a:t>
            </a:r>
            <a:endParaRPr lang="en-US" sz="1500" dirty="0"/>
          </a:p>
        </p:txBody>
      </p:sp>
      <p:sp>
        <p:nvSpPr>
          <p:cNvPr id="30" name="Shape 15"/>
          <p:cNvSpPr/>
          <p:nvPr/>
        </p:nvSpPr>
        <p:spPr>
          <a:xfrm>
            <a:off x="9445752" y="3082442"/>
            <a:ext cx="857707" cy="857707"/>
          </a:xfrm>
          <a:prstGeom prst="ellipse">
            <a:avLst/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659722" y="3297326"/>
            <a:ext cx="428854" cy="428854"/>
          </a:xfrm>
          <a:prstGeom prst="rect">
            <a:avLst/>
          </a:prstGeom>
        </p:spPr>
      </p:pic>
      <p:sp>
        <p:nvSpPr>
          <p:cNvPr id="32" name="Text 16"/>
          <p:cNvSpPr txBox="1"/>
          <p:nvPr/>
        </p:nvSpPr>
        <p:spPr>
          <a:xfrm>
            <a:off x="8904427" y="4618634"/>
            <a:ext cx="1942186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dirty="0">
                <a:solidFill>
                  <a:srgbClr val="FFC10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90</a:t>
            </a:r>
            <a:r>
              <a:rPr lang="en-US" sz="1800" dirty="0">
                <a:solidFill>
                  <a:srgbClr val="FFC1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4500" dirty="0"/>
          </a:p>
        </p:txBody>
      </p:sp>
      <p:sp>
        <p:nvSpPr>
          <p:cNvPr id="33" name="Text 17"/>
          <p:cNvSpPr txBox="1"/>
          <p:nvPr/>
        </p:nvSpPr>
        <p:spPr>
          <a:xfrm>
            <a:off x="9116568" y="4177894"/>
            <a:ext cx="152247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예상 수입</a:t>
            </a:r>
            <a:endParaRPr lang="en-US" sz="1500" dirty="0"/>
          </a:p>
        </p:txBody>
      </p:sp>
      <p:sp>
        <p:nvSpPr>
          <p:cNvPr id="34" name="Shape 18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19"/>
          <p:cNvSpPr/>
          <p:nvPr/>
        </p:nvSpPr>
        <p:spPr>
          <a:xfrm>
            <a:off x="0" y="809244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6"/>
          <a:srcRect l="-107" r="-107"/>
          <a:stretch/>
        </p:blipFill>
        <p:spPr>
          <a:xfrm>
            <a:off x="476402" y="276149"/>
            <a:ext cx="267005" cy="304495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886054" y="200254"/>
            <a:ext cx="2544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상세 계획</a:t>
            </a:r>
            <a:endParaRPr lang="en-US" sz="2400" dirty="0"/>
          </a:p>
        </p:txBody>
      </p:sp>
      <p:sp>
        <p:nvSpPr>
          <p:cNvPr id="38" name="Shape 21"/>
          <p:cNvSpPr/>
          <p:nvPr/>
        </p:nvSpPr>
        <p:spPr>
          <a:xfrm>
            <a:off x="3109874" y="291694"/>
            <a:ext cx="9144" cy="2761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2"/>
          <p:cNvSpPr txBox="1"/>
          <p:nvPr/>
        </p:nvSpPr>
        <p:spPr>
          <a:xfrm>
            <a:off x="3309214" y="291694"/>
            <a:ext cx="143012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도입 목표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571500" y="1133856"/>
            <a:ext cx="5333695" cy="50090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133856"/>
            <a:ext cx="5333695" cy="1266444"/>
          </a:xfrm>
          <a:prstGeom prst="roundRect">
            <a:avLst>
              <a:gd name="adj" fmla="val 17372"/>
            </a:avLst>
          </a:prstGeom>
          <a:solidFill>
            <a:srgbClr val="0288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7707" y="1371600"/>
            <a:ext cx="1047902" cy="323698"/>
          </a:xfrm>
          <a:prstGeom prst="roundRect">
            <a:avLst>
              <a:gd name="adj" fmla="val 28248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8446" y="1371600"/>
            <a:ext cx="11055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0800" rIns="1143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(2027)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1787652"/>
            <a:ext cx="4953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 관광시설 확대</a:t>
            </a:r>
            <a:endParaRPr lang="en-US" sz="1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/>
          <a:stretch/>
        </p:blipFill>
        <p:spPr>
          <a:xfrm>
            <a:off x="5238598" y="1571854"/>
            <a:ext cx="381305" cy="3813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47902" y="2677363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대상 시설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857707" y="2714854"/>
            <a:ext cx="114300" cy="15270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57707" y="2981858"/>
            <a:ext cx="38405" cy="58064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90295" y="2981858"/>
            <a:ext cx="4819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자라섬 전역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990295" y="3292754"/>
            <a:ext cx="4819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가평군 운영 공공 수변 관광시설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124712" y="3841394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예상 이용객 규모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857707" y="3878885"/>
            <a:ext cx="190195" cy="15270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57707" y="4145890"/>
            <a:ext cx="38405" cy="304495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990295" y="4145890"/>
            <a:ext cx="47439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약 400만 명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57707" y="4680814"/>
            <a:ext cx="4762195" cy="1181405"/>
          </a:xfrm>
          <a:prstGeom prst="roundRect">
            <a:avLst>
              <a:gd name="adj" fmla="val 14981"/>
            </a:avLst>
          </a:prstGeom>
          <a:solidFill>
            <a:srgbClr val="F8F9FA"/>
          </a:solidFill>
          <a:ln w="25400">
            <a:solidFill>
              <a:srgbClr val="B3E5FC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72007" y="4891126"/>
            <a:ext cx="45345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수입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972007" y="5190134"/>
            <a:ext cx="4534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88D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120</a:t>
            </a:r>
            <a:r>
              <a:rPr lang="en-US" sz="1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3600" dirty="0"/>
          </a:p>
        </p:txBody>
      </p:sp>
      <p:sp>
        <p:nvSpPr>
          <p:cNvPr id="22" name="Text 16"/>
          <p:cNvSpPr txBox="1"/>
          <p:nvPr/>
        </p:nvSpPr>
        <p:spPr>
          <a:xfrm>
            <a:off x="3451860" y="5341925"/>
            <a:ext cx="448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14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6286500" y="1133856"/>
            <a:ext cx="5333695" cy="5009083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286500" y="1133856"/>
            <a:ext cx="5333695" cy="1266444"/>
          </a:xfrm>
          <a:prstGeom prst="roundRect">
            <a:avLst>
              <a:gd name="adj" fmla="val 17372"/>
            </a:avLst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572707" y="1371600"/>
            <a:ext cx="1047902" cy="323698"/>
          </a:xfrm>
          <a:prstGeom prst="roundRect">
            <a:avLst>
              <a:gd name="adj" fmla="val 28248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543446" y="1371600"/>
            <a:ext cx="11055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0800" rIns="1143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(2028)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6572707" y="1787652"/>
            <a:ext cx="4953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하천 점용 시설 부과</a:t>
            </a:r>
            <a:endParaRPr lang="en-US" sz="19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>
            <a:alphaModFix amt="30000"/>
          </a:blip>
          <a:srcRect t="-13" b="-13"/>
          <a:stretch/>
        </p:blipFill>
        <p:spPr>
          <a:xfrm>
            <a:off x="10906049" y="1571854"/>
            <a:ext cx="428854" cy="38130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820510" y="2677363"/>
            <a:ext cx="4705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대상 시설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572707" y="2714854"/>
            <a:ext cx="171907" cy="152705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6572707" y="2981858"/>
            <a:ext cx="38405" cy="58064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>
                <a:alpha val="0"/>
              </a:srgbClr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6705295" y="2981858"/>
            <a:ext cx="4819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수상레저 및 선착장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6705295" y="3292754"/>
            <a:ext cx="4819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하천 점용 영업시설 일체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6839712" y="3841394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시설 규모</a:t>
            </a:r>
            <a:endParaRPr lang="en-US" sz="12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6572707" y="3878885"/>
            <a:ext cx="190195" cy="152705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6572707" y="4145890"/>
            <a:ext cx="38405" cy="304495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>
                <a:alpha val="0"/>
              </a:srgbClr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6705295" y="4145890"/>
            <a:ext cx="47439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1,200개 시설</a:t>
            </a:r>
            <a:endParaRPr lang="en-US" sz="1500" dirty="0"/>
          </a:p>
        </p:txBody>
      </p:sp>
      <p:sp>
        <p:nvSpPr>
          <p:cNvPr id="38" name="Shape 28"/>
          <p:cNvSpPr/>
          <p:nvPr/>
        </p:nvSpPr>
        <p:spPr>
          <a:xfrm>
            <a:off x="6572707" y="4680814"/>
            <a:ext cx="4762195" cy="1181405"/>
          </a:xfrm>
          <a:prstGeom prst="roundRect">
            <a:avLst>
              <a:gd name="adj" fmla="val 14981"/>
            </a:avLst>
          </a:prstGeom>
          <a:solidFill>
            <a:srgbClr val="F8F9FA"/>
          </a:solidFill>
          <a:ln w="25400">
            <a:solidFill>
              <a:srgbClr val="BBDEFB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6687007" y="4891126"/>
            <a:ext cx="45345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수입</a:t>
            </a:r>
            <a:endParaRPr lang="en-US" sz="1300" dirty="0"/>
          </a:p>
        </p:txBody>
      </p:sp>
      <p:sp>
        <p:nvSpPr>
          <p:cNvPr id="40" name="Text 30"/>
          <p:cNvSpPr txBox="1"/>
          <p:nvPr/>
        </p:nvSpPr>
        <p:spPr>
          <a:xfrm>
            <a:off x="6687007" y="5190134"/>
            <a:ext cx="4534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D47A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100</a:t>
            </a:r>
            <a:r>
              <a:rPr lang="en-US" sz="1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3600" dirty="0"/>
          </a:p>
        </p:txBody>
      </p:sp>
      <p:sp>
        <p:nvSpPr>
          <p:cNvPr id="41" name="Text 31"/>
          <p:cNvSpPr txBox="1"/>
          <p:nvPr/>
        </p:nvSpPr>
        <p:spPr>
          <a:xfrm>
            <a:off x="9166860" y="5341925"/>
            <a:ext cx="448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1400" dirty="0"/>
          </a:p>
        </p:txBody>
      </p:sp>
      <p:sp>
        <p:nvSpPr>
          <p:cNvPr id="42" name="Shape 32"/>
          <p:cNvSpPr/>
          <p:nvPr/>
        </p:nvSpPr>
        <p:spPr>
          <a:xfrm>
            <a:off x="0" y="6523330"/>
            <a:ext cx="12191695" cy="342900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476402" y="6599225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44" name="Text 34"/>
          <p:cNvSpPr txBox="1"/>
          <p:nvPr/>
        </p:nvSpPr>
        <p:spPr>
          <a:xfrm>
            <a:off x="11647627" y="6599225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9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810098" y="3143707"/>
            <a:ext cx="571500" cy="571500"/>
          </a:xfrm>
          <a:prstGeom prst="rect">
            <a:avLst/>
          </a:prstGeom>
        </p:spPr>
      </p:pic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1"/>
          <a:srcRect l="-1082" r="-1082"/>
          <a:stretch/>
        </p:blipFill>
        <p:spPr>
          <a:xfrm>
            <a:off x="6014923" y="3338474"/>
            <a:ext cx="161849" cy="181051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0" y="705002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76402" y="224028"/>
            <a:ext cx="304495" cy="304495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923544" y="148133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2·3단계 상세 계획</a:t>
            </a:r>
            <a:endParaRPr lang="en-US" sz="2400" dirty="0"/>
          </a:p>
        </p:txBody>
      </p:sp>
      <p:sp>
        <p:nvSpPr>
          <p:cNvPr id="51" name="Shape 38"/>
          <p:cNvSpPr/>
          <p:nvPr/>
        </p:nvSpPr>
        <p:spPr>
          <a:xfrm>
            <a:off x="3427171" y="239573"/>
            <a:ext cx="9144" cy="2761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3626510" y="239573"/>
            <a:ext cx="2150669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2027~2028년 확장 로드맵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5995" y="1762049"/>
            <a:ext cx="3810305" cy="38103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9132" y="3292754"/>
            <a:ext cx="117409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예산 규모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033626" y="3614623"/>
            <a:ext cx="15051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dirty="0">
                <a:solidFill>
                  <a:srgbClr val="33333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360</a:t>
            </a: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5467198" y="1912925"/>
            <a:ext cx="2980944" cy="1295705"/>
          </a:xfrm>
          <a:prstGeom prst="roundRect">
            <a:avLst>
              <a:gd name="adj" fmla="val 12454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67198" y="1912925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0D47A1"/>
          </a:solidFill>
          <a:ln w="12700">
            <a:solidFill>
              <a:srgbClr val="0D47A1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0" y="2133295"/>
            <a:ext cx="8229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투자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02906" y="2103120"/>
            <a:ext cx="562356" cy="314554"/>
          </a:xfrm>
          <a:prstGeom prst="roundRect">
            <a:avLst>
              <a:gd name="adj" fmla="val 70472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02906" y="2103120"/>
            <a:ext cx="6382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67%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510942"/>
            <a:ext cx="264535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3333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240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8639251" y="1912925"/>
            <a:ext cx="2980944" cy="1295705"/>
          </a:xfrm>
          <a:prstGeom prst="roundRect">
            <a:avLst>
              <a:gd name="adj" fmla="val 12454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639251" y="1912925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00838F"/>
          </a:solidFill>
          <a:ln w="12700">
            <a:solidFill>
              <a:srgbClr val="00838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87054" y="2133295"/>
            <a:ext cx="8229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 지원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874959" y="2103120"/>
            <a:ext cx="562356" cy="314554"/>
          </a:xfrm>
          <a:prstGeom prst="roundRect">
            <a:avLst>
              <a:gd name="adj" fmla="val 70472"/>
            </a:avLst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874959" y="2103120"/>
            <a:ext cx="6382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83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33%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887054" y="2510942"/>
            <a:ext cx="264535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3333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120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26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67198" y="3536899"/>
            <a:ext cx="181051" cy="181051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743346" y="3490265"/>
            <a:ext cx="1600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사용처 예시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467198" y="3907231"/>
            <a:ext cx="3010205" cy="68580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667451" y="4059022"/>
            <a:ext cx="381305" cy="381305"/>
          </a:xfrm>
          <a:prstGeom prst="ellipse">
            <a:avLst/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72607" y="4164178"/>
            <a:ext cx="171907" cy="171907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191402" y="4129430"/>
            <a:ext cx="152247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북한강 전망대 건립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615477" y="3907231"/>
            <a:ext cx="3010205" cy="68580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815730" y="4059022"/>
            <a:ext cx="381305" cy="381305"/>
          </a:xfrm>
          <a:prstGeom prst="ellipse">
            <a:avLst/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8953805" y="4164178"/>
            <a:ext cx="105156" cy="17190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39682" y="4129430"/>
            <a:ext cx="1357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수변 산책로 조성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67198" y="4735678"/>
            <a:ext cx="3010205" cy="68580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667451" y="4888382"/>
            <a:ext cx="381305" cy="381305"/>
          </a:xfrm>
          <a:prstGeom prst="ellipse">
            <a:avLst/>
          </a:prstGeom>
          <a:solidFill>
            <a:srgbClr val="FFFD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t="-2222" b="-2222"/>
          <a:stretch/>
        </p:blipFill>
        <p:spPr>
          <a:xfrm>
            <a:off x="5796382" y="4992624"/>
            <a:ext cx="123444" cy="17190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191402" y="4958791"/>
            <a:ext cx="16221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경관 조명 설치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615477" y="4735678"/>
            <a:ext cx="3010205" cy="68580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815730" y="4888382"/>
            <a:ext cx="381305" cy="381305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19972" y="4992624"/>
            <a:ext cx="171907" cy="17190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339682" y="4958791"/>
            <a:ext cx="168889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관광 안내시설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476402" y="6576365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579962" y="6576365"/>
            <a:ext cx="219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0" y="809244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 l="-50" r="-50"/>
          <a:stretch/>
        </p:blipFill>
        <p:spPr>
          <a:xfrm>
            <a:off x="476402" y="276149"/>
            <a:ext cx="342900" cy="30449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961949" y="200254"/>
            <a:ext cx="3592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관광특별회계 재원 배분</a:t>
            </a:r>
            <a:endParaRPr lang="en-US" sz="2400" dirty="0"/>
          </a:p>
        </p:txBody>
      </p:sp>
      <p:sp>
        <p:nvSpPr>
          <p:cNvPr id="44" name="Shape 35"/>
          <p:cNvSpPr/>
          <p:nvPr/>
        </p:nvSpPr>
        <p:spPr>
          <a:xfrm>
            <a:off x="4127602" y="291694"/>
            <a:ext cx="9144" cy="2761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4327855" y="291694"/>
            <a:ext cx="2610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투명하고 효율적인 예산 운용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571500" y="1238098"/>
            <a:ext cx="5381244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3602" y="1904695"/>
            <a:ext cx="952805" cy="952805"/>
          </a:xfrm>
          <a:prstGeom prst="roundRect">
            <a:avLst>
              <a:gd name="adj" fmla="val 38388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81405" y="2152498"/>
            <a:ext cx="457200" cy="4572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/>
          <a:stretch/>
        </p:blipFill>
        <p:spPr>
          <a:xfrm>
            <a:off x="4276649" y="1848002"/>
            <a:ext cx="1867205" cy="186720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t="-4" b="-4"/>
          <a:stretch/>
        </p:blipFill>
        <p:spPr>
          <a:xfrm>
            <a:off x="6238951" y="1238098"/>
            <a:ext cx="5381244" cy="228600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601054" y="1904695"/>
            <a:ext cx="952805" cy="952805"/>
          </a:xfrm>
          <a:prstGeom prst="roundRect">
            <a:avLst>
              <a:gd name="adj" fmla="val 38388"/>
            </a:avLst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6933895" y="2152498"/>
            <a:ext cx="286207" cy="457200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>
            <a:alphaModFix amt="5000"/>
          </a:blip>
          <a:srcRect l="-11355" r="-11355"/>
          <a:stretch/>
        </p:blipFill>
        <p:spPr>
          <a:xfrm>
            <a:off x="10496398" y="2000707"/>
            <a:ext cx="1314907" cy="1714500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rcRect t="-4" b="-4"/>
          <a:stretch/>
        </p:blipFill>
        <p:spPr>
          <a:xfrm>
            <a:off x="571500" y="3810305"/>
            <a:ext cx="5381244" cy="2286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933602" y="4476902"/>
            <a:ext cx="952805" cy="952805"/>
          </a:xfrm>
          <a:prstGeom prst="roundRect">
            <a:avLst>
              <a:gd name="adj" fmla="val 38388"/>
            </a:avLst>
          </a:prstGeom>
          <a:solidFill>
            <a:srgbClr val="FFFD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238098" y="4724705"/>
            <a:ext cx="342900" cy="457200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>
            <a:alphaModFix amt="5000"/>
          </a:blip>
          <a:srcRect l="-6244" r="-6244"/>
          <a:stretch/>
        </p:blipFill>
        <p:spPr>
          <a:xfrm>
            <a:off x="4647895" y="4515307"/>
            <a:ext cx="1495044" cy="1772107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2"/>
          <a:srcRect t="-4" b="-4"/>
          <a:stretch/>
        </p:blipFill>
        <p:spPr>
          <a:xfrm>
            <a:off x="6238951" y="3810305"/>
            <a:ext cx="5381244" cy="2286000"/>
          </a:xfrm>
          <a:prstGeom prst="rect">
            <a:avLst/>
          </a:prstGeom>
        </p:spPr>
      </p:pic>
      <p:sp>
        <p:nvSpPr>
          <p:cNvPr id="17" name="Shape 5"/>
          <p:cNvSpPr/>
          <p:nvPr/>
        </p:nvSpPr>
        <p:spPr>
          <a:xfrm>
            <a:off x="6601054" y="4476902"/>
            <a:ext cx="952805" cy="952805"/>
          </a:xfrm>
          <a:prstGeom prst="roundRect">
            <a:avLst>
              <a:gd name="adj" fmla="val 38388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848856" y="4724705"/>
            <a:ext cx="457200" cy="45720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4">
            <a:alphaModFix amt="5000"/>
          </a:blip>
          <a:srcRect/>
          <a:stretch/>
        </p:blipFill>
        <p:spPr>
          <a:xfrm>
            <a:off x="9944100" y="4419295"/>
            <a:ext cx="1867205" cy="1867205"/>
          </a:xfrm>
          <a:prstGeom prst="rect">
            <a:avLst/>
          </a:prstGeom>
        </p:spPr>
      </p:pic>
      <p:sp>
        <p:nvSpPr>
          <p:cNvPr id="20" name="Shape 6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7"/>
          <p:cNvSpPr txBox="1"/>
          <p:nvPr/>
        </p:nvSpPr>
        <p:spPr>
          <a:xfrm>
            <a:off x="476402" y="6576365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22" name="Text 8"/>
          <p:cNvSpPr txBox="1"/>
          <p:nvPr/>
        </p:nvSpPr>
        <p:spPr>
          <a:xfrm>
            <a:off x="11579962" y="6576365"/>
            <a:ext cx="219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00" dirty="0"/>
          </a:p>
        </p:txBody>
      </p:sp>
      <p:sp>
        <p:nvSpPr>
          <p:cNvPr id="23" name="Text 9"/>
          <p:cNvSpPr txBox="1"/>
          <p:nvPr/>
        </p:nvSpPr>
        <p:spPr>
          <a:xfrm>
            <a:off x="2171700" y="1899209"/>
            <a:ext cx="36868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북한강 전망대</a:t>
            </a:r>
            <a:endParaRPr lang="en-US" sz="1900" dirty="0"/>
          </a:p>
        </p:txBody>
      </p:sp>
      <p:sp>
        <p:nvSpPr>
          <p:cNvPr id="24" name="Text 10"/>
          <p:cNvSpPr txBox="1"/>
          <p:nvPr/>
        </p:nvSpPr>
        <p:spPr>
          <a:xfrm>
            <a:off x="2171700" y="2360066"/>
            <a:ext cx="357256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북한강의 수려한 경관을 한눈에 조망할 수 있는 랜드마크형 전망 시설 조성</a:t>
            </a:r>
            <a:endParaRPr lang="en-US" sz="1300" dirty="0"/>
          </a:p>
        </p:txBody>
      </p:sp>
      <p:sp>
        <p:nvSpPr>
          <p:cNvPr id="25" name="Text 11"/>
          <p:cNvSpPr txBox="1"/>
          <p:nvPr/>
        </p:nvSpPr>
        <p:spPr>
          <a:xfrm>
            <a:off x="7839151" y="1899209"/>
            <a:ext cx="36868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수변 산책로</a:t>
            </a:r>
            <a:endParaRPr lang="en-US" sz="1900" dirty="0"/>
          </a:p>
        </p:txBody>
      </p:sp>
      <p:sp>
        <p:nvSpPr>
          <p:cNvPr id="26" name="Text 12"/>
          <p:cNvSpPr txBox="1"/>
          <p:nvPr/>
        </p:nvSpPr>
        <p:spPr>
          <a:xfrm>
            <a:off x="7839151" y="2360066"/>
            <a:ext cx="357256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 친화적 데크 로드와 쉼터가 어우러진 명품 걷기 여행길 구축</a:t>
            </a:r>
            <a:endParaRPr lang="en-US" sz="1300" dirty="0"/>
          </a:p>
        </p:txBody>
      </p:sp>
      <p:sp>
        <p:nvSpPr>
          <p:cNvPr id="27" name="Text 13"/>
          <p:cNvSpPr txBox="1"/>
          <p:nvPr/>
        </p:nvSpPr>
        <p:spPr>
          <a:xfrm>
            <a:off x="2171700" y="4470502"/>
            <a:ext cx="36868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경관 조명</a:t>
            </a:r>
            <a:endParaRPr lang="en-US" sz="1900" dirty="0"/>
          </a:p>
        </p:txBody>
      </p:sp>
      <p:sp>
        <p:nvSpPr>
          <p:cNvPr id="28" name="Text 14"/>
          <p:cNvSpPr txBox="1"/>
          <p:nvPr/>
        </p:nvSpPr>
        <p:spPr>
          <a:xfrm>
            <a:off x="2171700" y="4932274"/>
            <a:ext cx="357256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관광 활성화를 위한 교량 및 주요 수변 시설의 특화 조명 설치</a:t>
            </a:r>
            <a:endParaRPr lang="en-US" sz="1300" dirty="0"/>
          </a:p>
        </p:txBody>
      </p:sp>
      <p:sp>
        <p:nvSpPr>
          <p:cNvPr id="29" name="Text 15"/>
          <p:cNvSpPr txBox="1"/>
          <p:nvPr/>
        </p:nvSpPr>
        <p:spPr>
          <a:xfrm>
            <a:off x="7839151" y="4470502"/>
            <a:ext cx="36868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안내시설</a:t>
            </a:r>
            <a:endParaRPr lang="en-US" sz="1900" dirty="0"/>
          </a:p>
        </p:txBody>
      </p:sp>
      <p:sp>
        <p:nvSpPr>
          <p:cNvPr id="30" name="Text 16"/>
          <p:cNvSpPr txBox="1"/>
          <p:nvPr/>
        </p:nvSpPr>
        <p:spPr>
          <a:xfrm>
            <a:off x="7839151" y="4932274"/>
            <a:ext cx="357256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기술이 접목된 다국어 관광 안내 시스템 및 편의시설 확충</a:t>
            </a:r>
            <a:endParaRPr lang="en-US" sz="1300" dirty="0"/>
          </a:p>
        </p:txBody>
      </p:sp>
      <p:sp>
        <p:nvSpPr>
          <p:cNvPr id="31" name="Shape 17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18"/>
          <p:cNvSpPr/>
          <p:nvPr/>
        </p:nvSpPr>
        <p:spPr>
          <a:xfrm>
            <a:off x="0" y="809244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76402" y="276149"/>
            <a:ext cx="304495" cy="304495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923544" y="200254"/>
            <a:ext cx="2470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특별회계 사용처</a:t>
            </a:r>
            <a:endParaRPr lang="en-US" sz="2400" dirty="0"/>
          </a:p>
        </p:txBody>
      </p:sp>
      <p:sp>
        <p:nvSpPr>
          <p:cNvPr id="35" name="Shape 20"/>
          <p:cNvSpPr/>
          <p:nvPr/>
        </p:nvSpPr>
        <p:spPr>
          <a:xfrm>
            <a:off x="3162910" y="291694"/>
            <a:ext cx="9144" cy="2761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1"/>
          <p:cNvSpPr txBox="1"/>
          <p:nvPr/>
        </p:nvSpPr>
        <p:spPr>
          <a:xfrm>
            <a:off x="3362249" y="291694"/>
            <a:ext cx="246613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투자 항목 및 기대 효과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981151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981151"/>
            <a:ext cx="3524098" cy="47549"/>
          </a:xfrm>
          <a:prstGeom prst="roundRect">
            <a:avLst>
              <a:gd name="adj" fmla="val 175489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3258007" y="2638044"/>
            <a:ext cx="933602" cy="9336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34256" y="981151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34256" y="981151"/>
            <a:ext cx="3524098" cy="47549"/>
          </a:xfrm>
          <a:prstGeom prst="roundRect">
            <a:avLst>
              <a:gd name="adj" fmla="val 175489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/>
          <a:stretch/>
        </p:blipFill>
        <p:spPr>
          <a:xfrm>
            <a:off x="7019849" y="2638044"/>
            <a:ext cx="933602" cy="9336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96098" y="981151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096098" y="981151"/>
            <a:ext cx="3524098" cy="47549"/>
          </a:xfrm>
          <a:prstGeom prst="roundRect">
            <a:avLst>
              <a:gd name="adj" fmla="val 175489"/>
            </a:avLst>
          </a:prstGeom>
          <a:solidFill>
            <a:srgbClr val="0D47A1"/>
          </a:solidFill>
          <a:ln w="12700">
            <a:solidFill>
              <a:srgbClr val="0D47A1">
                <a:alpha val="0"/>
              </a:srgbClr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 l="-6622" r="-6622"/>
          <a:stretch/>
        </p:blipFill>
        <p:spPr>
          <a:xfrm>
            <a:off x="10963656" y="2686507"/>
            <a:ext cx="752551" cy="88605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71500" y="3715207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71500" y="3715207"/>
            <a:ext cx="3524098" cy="47549"/>
          </a:xfrm>
          <a:prstGeom prst="roundRect">
            <a:avLst>
              <a:gd name="adj" fmla="val 175489"/>
            </a:avLst>
          </a:prstGeom>
          <a:solidFill>
            <a:srgbClr val="0D47A1"/>
          </a:solidFill>
          <a:ln w="12700">
            <a:solidFill>
              <a:srgbClr val="0D47A1">
                <a:alpha val="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>
            <a:alphaModFix amt="5000"/>
          </a:blip>
          <a:srcRect t="-2600" b="-2600"/>
          <a:stretch/>
        </p:blipFill>
        <p:spPr>
          <a:xfrm>
            <a:off x="3161995" y="5343754"/>
            <a:ext cx="1028700" cy="96194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334256" y="3715207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334256" y="3715207"/>
            <a:ext cx="3524098" cy="47549"/>
          </a:xfrm>
          <a:prstGeom prst="roundRect">
            <a:avLst>
              <a:gd name="adj" fmla="val 175489"/>
            </a:avLst>
          </a:prstGeom>
          <a:solidFill>
            <a:srgbClr val="00838F"/>
          </a:solidFill>
          <a:ln w="12700">
            <a:solidFill>
              <a:srgbClr val="00838F">
                <a:alpha val="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>
            <a:alphaModFix amt="5000"/>
          </a:blip>
          <a:srcRect/>
          <a:stretch/>
        </p:blipFill>
        <p:spPr>
          <a:xfrm>
            <a:off x="7019849" y="5372100"/>
            <a:ext cx="933602" cy="93360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096098" y="3715207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8096098" y="3715207"/>
            <a:ext cx="3524098" cy="47549"/>
          </a:xfrm>
          <a:prstGeom prst="roundRect">
            <a:avLst>
              <a:gd name="adj" fmla="val 175489"/>
            </a:avLst>
          </a:prstGeom>
          <a:solidFill>
            <a:srgbClr val="00838F"/>
          </a:solidFill>
          <a:ln w="12700">
            <a:solidFill>
              <a:srgbClr val="00838F">
                <a:alpha val="0"/>
              </a:srgbClr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>
            <a:alphaModFix amt="5000"/>
          </a:blip>
          <a:srcRect t="-2600" b="-2600"/>
          <a:stretch/>
        </p:blipFill>
        <p:spPr>
          <a:xfrm>
            <a:off x="10687507" y="5343754"/>
            <a:ext cx="1028700" cy="961949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0" y="6590995"/>
            <a:ext cx="12191695" cy="267005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476402" y="6633058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11579962" y="6633058"/>
            <a:ext cx="219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809244" y="1266444"/>
            <a:ext cx="476402" cy="476402"/>
          </a:xfrm>
          <a:prstGeom prst="ellipse">
            <a:avLst/>
          </a:prstGeom>
          <a:solidFill>
            <a:srgbClr val="FFF8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3602" y="1390802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09244" y="1885493"/>
            <a:ext cx="123718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헌법 제23조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3257093" y="1923898"/>
            <a:ext cx="609905" cy="228600"/>
          </a:xfrm>
          <a:prstGeom prst="roundRect">
            <a:avLst>
              <a:gd name="adj" fmla="val 133333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3257093" y="1923898"/>
            <a:ext cx="6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최상위법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809244" y="2278685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재산권의 행사와 공공복리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809244" y="2518258"/>
            <a:ext cx="31245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국민의 재산권은 보장되나, 그 행사는 공공복리에 적합하도록 해야 한다는 헌법적 의무 규정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4572000" y="1266444"/>
            <a:ext cx="476402" cy="476402"/>
          </a:xfrm>
          <a:prstGeom prst="ellipse">
            <a:avLst/>
          </a:prstGeom>
          <a:solidFill>
            <a:srgbClr val="FFF8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95444" y="139080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4572000" y="1885493"/>
            <a:ext cx="13240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헌법 제122조</a:t>
            </a:r>
            <a:endParaRPr lang="en-US" sz="1500" dirty="0"/>
          </a:p>
        </p:txBody>
      </p:sp>
      <p:sp>
        <p:nvSpPr>
          <p:cNvPr id="35" name="Shape 25"/>
          <p:cNvSpPr/>
          <p:nvPr/>
        </p:nvSpPr>
        <p:spPr>
          <a:xfrm>
            <a:off x="7018934" y="1923898"/>
            <a:ext cx="609905" cy="228600"/>
          </a:xfrm>
          <a:prstGeom prst="roundRect">
            <a:avLst>
              <a:gd name="adj" fmla="val 133333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7018934" y="1923898"/>
            <a:ext cx="6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국토관리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4572000" y="2278685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국토의 효율적 이용·개발·보전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4572000" y="2518258"/>
            <a:ext cx="31245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국가는 국토의 효율적이고 균형 있는 이용·개발과 보전을 위하여 법률이 정하는 바에 의해 제한과 의무를 부과할 수 있음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8334756" y="1266444"/>
            <a:ext cx="476402" cy="476402"/>
          </a:xfrm>
          <a:prstGeom prst="ellipse">
            <a:avLst/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rcRect l="-133" r="-133"/>
          <a:stretch/>
        </p:blipFill>
        <p:spPr>
          <a:xfrm>
            <a:off x="8486546" y="1390802"/>
            <a:ext cx="171907" cy="2286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8334756" y="1885493"/>
            <a:ext cx="105613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지방자치법</a:t>
            </a:r>
            <a:endParaRPr lang="en-US" sz="1500" dirty="0"/>
          </a:p>
        </p:txBody>
      </p:sp>
      <p:sp>
        <p:nvSpPr>
          <p:cNvPr id="42" name="Shape 31"/>
          <p:cNvSpPr/>
          <p:nvPr/>
        </p:nvSpPr>
        <p:spPr>
          <a:xfrm>
            <a:off x="11005718" y="1923898"/>
            <a:ext cx="381305" cy="228600"/>
          </a:xfrm>
          <a:prstGeom prst="roundRect">
            <a:avLst>
              <a:gd name="adj" fmla="val 133333"/>
            </a:avLst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11005718" y="1923898"/>
            <a:ext cx="4572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</a:t>
            </a:r>
            <a:endParaRPr lang="en-US" sz="900" dirty="0"/>
          </a:p>
        </p:txBody>
      </p:sp>
      <p:sp>
        <p:nvSpPr>
          <p:cNvPr id="44" name="Text 33"/>
          <p:cNvSpPr txBox="1"/>
          <p:nvPr/>
        </p:nvSpPr>
        <p:spPr>
          <a:xfrm>
            <a:off x="8334756" y="2278685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사용료·수수료 징수 권한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8334756" y="2518258"/>
            <a:ext cx="31245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지방자치단체는 공공시설의 이용 또는 재산의 사용에 대하여 사용료를 징수할 수 있는 법적 권한 보유</a:t>
            </a:r>
            <a:endParaRPr lang="en-US" sz="1200" dirty="0"/>
          </a:p>
        </p:txBody>
      </p:sp>
      <p:sp>
        <p:nvSpPr>
          <p:cNvPr id="46" name="Shape 35"/>
          <p:cNvSpPr/>
          <p:nvPr/>
        </p:nvSpPr>
        <p:spPr>
          <a:xfrm>
            <a:off x="809244" y="4000500"/>
            <a:ext cx="476402" cy="476402"/>
          </a:xfrm>
          <a:prstGeom prst="ellipse">
            <a:avLst/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/>
          <a:srcRect t="-45" b="-45"/>
          <a:stretch/>
        </p:blipFill>
        <p:spPr>
          <a:xfrm>
            <a:off x="918972" y="4123944"/>
            <a:ext cx="256946" cy="228600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809244" y="4619549"/>
            <a:ext cx="105613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지방재정법</a:t>
            </a:r>
            <a:endParaRPr lang="en-US" sz="1500" dirty="0"/>
          </a:p>
        </p:txBody>
      </p:sp>
      <p:sp>
        <p:nvSpPr>
          <p:cNvPr id="49" name="Shape 37"/>
          <p:cNvSpPr/>
          <p:nvPr/>
        </p:nvSpPr>
        <p:spPr>
          <a:xfrm>
            <a:off x="3481121" y="4657954"/>
            <a:ext cx="381305" cy="228600"/>
          </a:xfrm>
          <a:prstGeom prst="roundRect">
            <a:avLst>
              <a:gd name="adj" fmla="val 133333"/>
            </a:avLst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8"/>
          <p:cNvSpPr txBox="1"/>
          <p:nvPr/>
        </p:nvSpPr>
        <p:spPr>
          <a:xfrm>
            <a:off x="3481121" y="4657954"/>
            <a:ext cx="4572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</a:t>
            </a:r>
            <a:endParaRPr lang="en-US" sz="900" dirty="0"/>
          </a:p>
        </p:txBody>
      </p:sp>
      <p:sp>
        <p:nvSpPr>
          <p:cNvPr id="51" name="Text 39"/>
          <p:cNvSpPr txBox="1"/>
          <p:nvPr/>
        </p:nvSpPr>
        <p:spPr>
          <a:xfrm>
            <a:off x="809244" y="5011826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특별회계 설치 근거</a:t>
            </a:r>
            <a:endParaRPr lang="en-US" sz="1200" dirty="0"/>
          </a:p>
        </p:txBody>
      </p:sp>
      <p:sp>
        <p:nvSpPr>
          <p:cNvPr id="52" name="Text 40"/>
          <p:cNvSpPr txBox="1"/>
          <p:nvPr/>
        </p:nvSpPr>
        <p:spPr>
          <a:xfrm>
            <a:off x="809244" y="5252314"/>
            <a:ext cx="31245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특정한 목적을 위하여 특정한 자금을 운용할 필요가 있을 때 특별회계를 설치할 수 있는 재정적 근거</a:t>
            </a:r>
            <a:endParaRPr lang="en-US" sz="1200" dirty="0"/>
          </a:p>
        </p:txBody>
      </p:sp>
      <p:sp>
        <p:nvSpPr>
          <p:cNvPr id="53" name="Shape 41"/>
          <p:cNvSpPr/>
          <p:nvPr/>
        </p:nvSpPr>
        <p:spPr>
          <a:xfrm>
            <a:off x="4572000" y="4000500"/>
            <a:ext cx="476402" cy="476402"/>
          </a:xfrm>
          <a:prstGeom prst="ellipse">
            <a:avLst/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695444" y="4123944"/>
            <a:ext cx="228600" cy="228600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4572000" y="4619549"/>
            <a:ext cx="236646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공유재산 및 물품관리법</a:t>
            </a:r>
            <a:endParaRPr lang="en-US" sz="1500" dirty="0"/>
          </a:p>
        </p:txBody>
      </p:sp>
      <p:sp>
        <p:nvSpPr>
          <p:cNvPr id="56" name="Shape 43"/>
          <p:cNvSpPr/>
          <p:nvPr/>
        </p:nvSpPr>
        <p:spPr>
          <a:xfrm>
            <a:off x="7242962" y="4657954"/>
            <a:ext cx="381305" cy="228600"/>
          </a:xfrm>
          <a:prstGeom prst="roundRect">
            <a:avLst>
              <a:gd name="adj" fmla="val 133333"/>
            </a:avLst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4"/>
          <p:cNvSpPr txBox="1"/>
          <p:nvPr/>
        </p:nvSpPr>
        <p:spPr>
          <a:xfrm>
            <a:off x="7242962" y="4657954"/>
            <a:ext cx="4572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endParaRPr lang="en-US" sz="900" dirty="0"/>
          </a:p>
        </p:txBody>
      </p:sp>
      <p:sp>
        <p:nvSpPr>
          <p:cNvPr id="58" name="Text 45"/>
          <p:cNvSpPr txBox="1"/>
          <p:nvPr/>
        </p:nvSpPr>
        <p:spPr>
          <a:xfrm>
            <a:off x="4572000" y="5011826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공공시설 사용료 징수</a:t>
            </a:r>
            <a:endParaRPr lang="en-US" sz="1200" dirty="0"/>
          </a:p>
        </p:txBody>
      </p:sp>
      <p:sp>
        <p:nvSpPr>
          <p:cNvPr id="59" name="Text 46"/>
          <p:cNvSpPr txBox="1"/>
          <p:nvPr/>
        </p:nvSpPr>
        <p:spPr>
          <a:xfrm>
            <a:off x="4572000" y="5252314"/>
            <a:ext cx="31245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지방자치단체의 행정재산 및 일반재산을 사용하는 자에게 대부료 또는 사용료를 부과·징수할 수 있음</a:t>
            </a:r>
            <a:endParaRPr lang="en-US" sz="1200" dirty="0"/>
          </a:p>
        </p:txBody>
      </p:sp>
      <p:sp>
        <p:nvSpPr>
          <p:cNvPr id="60" name="Shape 47"/>
          <p:cNvSpPr/>
          <p:nvPr/>
        </p:nvSpPr>
        <p:spPr>
          <a:xfrm>
            <a:off x="8334756" y="4000500"/>
            <a:ext cx="476402" cy="476402"/>
          </a:xfrm>
          <a:prstGeom prst="ellipse">
            <a:avLst/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 r:embed="rId14"/>
          <a:srcRect t="-45" b="-45"/>
          <a:stretch/>
        </p:blipFill>
        <p:spPr>
          <a:xfrm>
            <a:off x="8443570" y="4123944"/>
            <a:ext cx="256946" cy="228600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8334756" y="4619549"/>
            <a:ext cx="63459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하천법</a:t>
            </a:r>
            <a:endParaRPr lang="en-US" sz="1500" dirty="0"/>
          </a:p>
        </p:txBody>
      </p:sp>
      <p:sp>
        <p:nvSpPr>
          <p:cNvPr id="63" name="Shape 49"/>
          <p:cNvSpPr/>
          <p:nvPr/>
        </p:nvSpPr>
        <p:spPr>
          <a:xfrm>
            <a:off x="11005718" y="4657954"/>
            <a:ext cx="381305" cy="228600"/>
          </a:xfrm>
          <a:prstGeom prst="roundRect">
            <a:avLst>
              <a:gd name="adj" fmla="val 133333"/>
            </a:avLst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0"/>
          <p:cNvSpPr txBox="1"/>
          <p:nvPr/>
        </p:nvSpPr>
        <p:spPr>
          <a:xfrm>
            <a:off x="11005718" y="4657954"/>
            <a:ext cx="4572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점용</a:t>
            </a:r>
            <a:endParaRPr lang="en-US" sz="900" dirty="0"/>
          </a:p>
        </p:txBody>
      </p:sp>
      <p:sp>
        <p:nvSpPr>
          <p:cNvPr id="65" name="Text 51"/>
          <p:cNvSpPr txBox="1"/>
          <p:nvPr/>
        </p:nvSpPr>
        <p:spPr>
          <a:xfrm>
            <a:off x="8334756" y="5011826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하천 점용료 부과</a:t>
            </a:r>
            <a:endParaRPr lang="en-US" sz="1200" dirty="0"/>
          </a:p>
        </p:txBody>
      </p:sp>
      <p:sp>
        <p:nvSpPr>
          <p:cNvPr id="66" name="Text 52"/>
          <p:cNvSpPr txBox="1"/>
          <p:nvPr/>
        </p:nvSpPr>
        <p:spPr>
          <a:xfrm>
            <a:off x="8334756" y="5252314"/>
            <a:ext cx="31245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하천구역 안에서 토지의 점용, 하천수의 사용 등을 허가받은 자에게 점용료 및 사용료를 부과할 수 있는 근거</a:t>
            </a:r>
            <a:endParaRPr lang="en-US" sz="1200" dirty="0"/>
          </a:p>
        </p:txBody>
      </p:sp>
      <p:sp>
        <p:nvSpPr>
          <p:cNvPr id="67" name="Shape 53"/>
          <p:cNvSpPr/>
          <p:nvPr/>
        </p:nvSpPr>
        <p:spPr>
          <a:xfrm>
            <a:off x="0" y="0"/>
            <a:ext cx="12191695" cy="599846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4"/>
          <p:cNvSpPr/>
          <p:nvPr/>
        </p:nvSpPr>
        <p:spPr>
          <a:xfrm>
            <a:off x="0" y="552298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9" name="Image 12" descr="preencoded.png"/>
          <p:cNvPicPr>
            <a:picLocks noChangeAspect="1"/>
          </p:cNvPicPr>
          <p:nvPr/>
        </p:nvPicPr>
        <p:blipFill>
          <a:blip r:embed="rId15"/>
          <a:srcRect l="-90" r="-90"/>
          <a:stretch/>
        </p:blipFill>
        <p:spPr>
          <a:xfrm>
            <a:off x="476402" y="147218"/>
            <a:ext cx="381305" cy="304495"/>
          </a:xfrm>
          <a:prstGeom prst="rect">
            <a:avLst/>
          </a:prstGeom>
        </p:spPr>
      </p:pic>
      <p:sp>
        <p:nvSpPr>
          <p:cNvPr id="70" name="Text 55"/>
          <p:cNvSpPr txBox="1"/>
          <p:nvPr/>
        </p:nvSpPr>
        <p:spPr>
          <a:xfrm>
            <a:off x="1000354" y="71323"/>
            <a:ext cx="1495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근거</a:t>
            </a:r>
            <a:endParaRPr lang="en-US" sz="2400" dirty="0"/>
          </a:p>
        </p:txBody>
      </p:sp>
      <p:sp>
        <p:nvSpPr>
          <p:cNvPr id="71" name="Shape 56"/>
          <p:cNvSpPr/>
          <p:nvPr/>
        </p:nvSpPr>
        <p:spPr>
          <a:xfrm>
            <a:off x="2397557" y="162763"/>
            <a:ext cx="9144" cy="2761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57"/>
          <p:cNvSpPr txBox="1"/>
          <p:nvPr/>
        </p:nvSpPr>
        <p:spPr>
          <a:xfrm>
            <a:off x="2597810" y="162763"/>
            <a:ext cx="35487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헌법과 법률에 기반한 탄탄한 정책 설계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147572"/>
            <a:ext cx="5381244" cy="2352751"/>
          </a:xfrm>
          <a:prstGeom prst="roundRect">
            <a:avLst>
              <a:gd name="adj" fmla="val 5035"/>
            </a:avLst>
          </a:prstGeom>
          <a:solidFill>
            <a:srgbClr val="FFFFFF"/>
          </a:solidFill>
          <a:ln/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147572"/>
            <a:ext cx="75895" cy="2352751"/>
          </a:xfrm>
          <a:prstGeom prst="roundRect">
            <a:avLst>
              <a:gd name="adj" fmla="val 156090"/>
            </a:avLst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3602" y="1433779"/>
            <a:ext cx="685800" cy="286207"/>
          </a:xfrm>
          <a:prstGeom prst="roundRect">
            <a:avLst>
              <a:gd name="adj" fmla="val 319489"/>
            </a:avLst>
          </a:prstGeom>
          <a:solidFill>
            <a:srgbClr val="1565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433779"/>
            <a:ext cx="7434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01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95951" y="1433779"/>
            <a:ext cx="571500" cy="5715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552" r="-552"/>
          <a:stretch/>
        </p:blipFill>
        <p:spPr>
          <a:xfrm>
            <a:off x="5277002" y="1580998"/>
            <a:ext cx="209398" cy="2761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33602" y="2195474"/>
            <a:ext cx="49249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세금이 아닌 사용료 구조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933602" y="2652674"/>
            <a:ext cx="48106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조세 법률주의 논란을 원천 차단하기 위해, 강제적인 세금이 아닌 </a:t>
            </a:r>
            <a:r>
              <a:rPr lang="en-US" sz="13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공공시설 이용에 대한 대가성 비용</a:t>
            </a: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명확히 규정합니다.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33949" y="3079699"/>
            <a:ext cx="228600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38951" y="1147572"/>
            <a:ext cx="5381244" cy="2352751"/>
          </a:xfrm>
          <a:prstGeom prst="roundRect">
            <a:avLst>
              <a:gd name="adj" fmla="val 5035"/>
            </a:avLst>
          </a:prstGeom>
          <a:solidFill>
            <a:srgbClr val="FFFFFF"/>
          </a:solidFill>
          <a:ln/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238951" y="1147572"/>
            <a:ext cx="75895" cy="2352751"/>
          </a:xfrm>
          <a:prstGeom prst="roundRect">
            <a:avLst>
              <a:gd name="adj" fmla="val 156090"/>
            </a:avLst>
          </a:prstGeom>
          <a:solidFill>
            <a:srgbClr val="00838F"/>
          </a:solidFill>
          <a:ln w="12700">
            <a:solidFill>
              <a:srgbClr val="00838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601054" y="1433779"/>
            <a:ext cx="685800" cy="286207"/>
          </a:xfrm>
          <a:prstGeom prst="roundRect">
            <a:avLst>
              <a:gd name="adj" fmla="val 319489"/>
            </a:avLst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572707" y="1433779"/>
            <a:ext cx="7434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02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63402" y="1433779"/>
            <a:ext cx="571500" cy="571500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333" b="-333"/>
          <a:stretch/>
        </p:blipFill>
        <p:spPr>
          <a:xfrm>
            <a:off x="10877702" y="1580998"/>
            <a:ext cx="342900" cy="27614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601054" y="2195474"/>
            <a:ext cx="49249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 관광지 직접 부과 금지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6601054" y="2652674"/>
            <a:ext cx="48106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사유 재산권 침해 소지를 없애기 위해, 민간 관광지는 직접 부과 대상에서 제외하고 </a:t>
            </a:r>
            <a:r>
              <a:rPr lang="en-US" sz="13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자율적인 상생 협약 방식</a:t>
            </a: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적용합니다.</a:t>
            </a:r>
            <a:endParaRPr lang="en-US" sz="13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201400" y="3079699"/>
            <a:ext cx="228600" cy="2286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71500" y="3784702"/>
            <a:ext cx="5381244" cy="2352751"/>
          </a:xfrm>
          <a:prstGeom prst="roundRect">
            <a:avLst>
              <a:gd name="adj" fmla="val 5035"/>
            </a:avLst>
          </a:prstGeom>
          <a:solidFill>
            <a:srgbClr val="FFFFFF"/>
          </a:solidFill>
          <a:ln/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571500" y="3784702"/>
            <a:ext cx="75895" cy="2352751"/>
          </a:xfrm>
          <a:prstGeom prst="roundRect">
            <a:avLst>
              <a:gd name="adj" fmla="val 156090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33602" y="4070909"/>
            <a:ext cx="685800" cy="286207"/>
          </a:xfrm>
          <a:prstGeom prst="roundRect">
            <a:avLst>
              <a:gd name="adj" fmla="val 319489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905256" y="4070909"/>
            <a:ext cx="7434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03</a:t>
            </a:r>
            <a:endParaRPr lang="en-US" sz="10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95951" y="4070909"/>
            <a:ext cx="571500" cy="571500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/>
          <a:srcRect t="-1013" b="-1013"/>
          <a:stretch/>
        </p:blipFill>
        <p:spPr>
          <a:xfrm>
            <a:off x="5229454" y="4218127"/>
            <a:ext cx="304495" cy="276149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33602" y="4832604"/>
            <a:ext cx="49249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하천 점용 시설만 부담</a:t>
            </a:r>
            <a:endParaRPr lang="en-US" sz="1800" dirty="0"/>
          </a:p>
        </p:txBody>
      </p:sp>
      <p:sp>
        <p:nvSpPr>
          <p:cNvPr id="29" name="Text 19"/>
          <p:cNvSpPr txBox="1"/>
          <p:nvPr/>
        </p:nvSpPr>
        <p:spPr>
          <a:xfrm>
            <a:off x="933602" y="5289804"/>
            <a:ext cx="48106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건물주와의 형평성 및 이중 부과 문제를 방지하기 위해, </a:t>
            </a:r>
            <a:r>
              <a:rPr lang="en-US" sz="13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하천 점용 허가를 받은 영업 시설</a:t>
            </a: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부과 대상을 한정합니다.</a:t>
            </a:r>
            <a:endParaRPr lang="en-US" sz="13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33949" y="5716829"/>
            <a:ext cx="228600" cy="228600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6238951" y="3784702"/>
            <a:ext cx="5381244" cy="2352751"/>
          </a:xfrm>
          <a:prstGeom prst="roundRect">
            <a:avLst>
              <a:gd name="adj" fmla="val 5035"/>
            </a:avLst>
          </a:prstGeom>
          <a:solidFill>
            <a:srgbClr val="FFFFFF"/>
          </a:solidFill>
          <a:ln/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6238951" y="3784702"/>
            <a:ext cx="75895" cy="2352751"/>
          </a:xfrm>
          <a:prstGeom prst="roundRect">
            <a:avLst>
              <a:gd name="adj" fmla="val 156090"/>
            </a:avLst>
          </a:prstGeom>
          <a:solidFill>
            <a:srgbClr val="F9A825"/>
          </a:solidFill>
          <a:ln w="12700">
            <a:solidFill>
              <a:srgbClr val="F9A825">
                <a:alpha val="0"/>
              </a:srgbClr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6601054" y="4070909"/>
            <a:ext cx="685800" cy="286207"/>
          </a:xfrm>
          <a:prstGeom prst="roundRect">
            <a:avLst>
              <a:gd name="adj" fmla="val 319489"/>
            </a:avLst>
          </a:prstGeom>
          <a:solidFill>
            <a:srgbClr val="F9A8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6572707" y="4070909"/>
            <a:ext cx="7434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04</a:t>
            </a:r>
            <a:endParaRPr lang="en-US" sz="10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763402" y="4070909"/>
            <a:ext cx="571500" cy="571500"/>
          </a:xfrm>
          <a:prstGeom prst="rect">
            <a:avLst/>
          </a:prstGeom>
        </p:spPr>
      </p:pic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910621" y="4218127"/>
            <a:ext cx="276149" cy="276149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6601054" y="4832604"/>
            <a:ext cx="49249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수입 목적 제한</a:t>
            </a:r>
            <a:endParaRPr lang="en-US" sz="1800" dirty="0"/>
          </a:p>
        </p:txBody>
      </p:sp>
      <p:sp>
        <p:nvSpPr>
          <p:cNvPr id="38" name="Text 25"/>
          <p:cNvSpPr txBox="1"/>
          <p:nvPr/>
        </p:nvSpPr>
        <p:spPr>
          <a:xfrm>
            <a:off x="6601054" y="5289804"/>
            <a:ext cx="48106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예산 전용 의혹을 해소하기 위해, 징수된 재원은 전액 </a:t>
            </a:r>
            <a:r>
              <a:rPr lang="en-US" sz="13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수변 환경 관리 및 관광 인프라 투자</a:t>
            </a: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용도를 엄격히 제한합니다.</a:t>
            </a:r>
            <a:endParaRPr lang="en-US" sz="13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201400" y="5716829"/>
            <a:ext cx="228600" cy="228600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0" y="6516929"/>
            <a:ext cx="12191695" cy="342900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27"/>
          <p:cNvSpPr txBox="1"/>
          <p:nvPr/>
        </p:nvSpPr>
        <p:spPr>
          <a:xfrm>
            <a:off x="476402" y="6596482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42" name="Text 28"/>
          <p:cNvSpPr txBox="1"/>
          <p:nvPr/>
        </p:nvSpPr>
        <p:spPr>
          <a:xfrm>
            <a:off x="11579962" y="6596482"/>
            <a:ext cx="219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900" dirty="0"/>
          </a:p>
        </p:txBody>
      </p:sp>
      <p:sp>
        <p:nvSpPr>
          <p:cNvPr id="43" name="Shape 29"/>
          <p:cNvSpPr/>
          <p:nvPr/>
        </p:nvSpPr>
        <p:spPr>
          <a:xfrm>
            <a:off x="0" y="0"/>
            <a:ext cx="12191695" cy="771754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0"/>
          <p:cNvSpPr/>
          <p:nvPr/>
        </p:nvSpPr>
        <p:spPr>
          <a:xfrm>
            <a:off x="0" y="718718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76402" y="230429"/>
            <a:ext cx="304495" cy="304495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923544" y="154534"/>
            <a:ext cx="3176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분쟁 회피 전략</a:t>
            </a:r>
            <a:endParaRPr lang="en-US" sz="2400" dirty="0"/>
          </a:p>
        </p:txBody>
      </p:sp>
      <p:sp>
        <p:nvSpPr>
          <p:cNvPr id="47" name="Shape 32"/>
          <p:cNvSpPr/>
          <p:nvPr/>
        </p:nvSpPr>
        <p:spPr>
          <a:xfrm>
            <a:off x="3613709" y="245974"/>
            <a:ext cx="9144" cy="2761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3"/>
          <p:cNvSpPr txBox="1"/>
          <p:nvPr/>
        </p:nvSpPr>
        <p:spPr>
          <a:xfrm>
            <a:off x="3813962" y="245974"/>
            <a:ext cx="313182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안정성을 위한 4대 핵심 원칙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5" b="-5"/>
          <a:stretch/>
        </p:blipFill>
        <p:spPr>
          <a:xfrm>
            <a:off x="571500" y="838505"/>
            <a:ext cx="11048695" cy="546628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4190695" y="2047342"/>
            <a:ext cx="3810305" cy="30476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57046" y="2219249"/>
            <a:ext cx="10077602" cy="192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000354" y="1324051"/>
            <a:ext cx="10191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75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가평군 조례안 제2026-00호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961949" y="1624889"/>
            <a:ext cx="102687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가평군 수변 관광시설 관리 및 이용료 징수 조례안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9475927" y="5299862"/>
            <a:ext cx="7909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가평군수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 rot="21300000">
            <a:off x="10277856" y="5056632"/>
            <a:ext cx="761695" cy="761695"/>
          </a:xfrm>
          <a:prstGeom prst="ellips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 rot="21300000">
            <a:off x="10248595" y="5056632"/>
            <a:ext cx="819302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32F2F">
                    <a:alpha val="8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0" y="6685178"/>
            <a:ext cx="12191695" cy="190195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6402" y="6685178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579962" y="6685178"/>
            <a:ext cx="219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247242" y="2516429"/>
            <a:ext cx="477316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47A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제1조 (목적)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057046" y="2586838"/>
            <a:ext cx="114300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57046" y="2866644"/>
            <a:ext cx="49249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이 조례는 북한강 수변 관광자원을 체계적으로 관리하고, </a:t>
            </a:r>
            <a:r>
              <a:rPr lang="en-US" sz="12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지속 가능한 관광 재원을 확보</a:t>
            </a:r>
            <a:r>
              <a:rPr lang="en-US" sz="12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하여 지역 경제 활성화에 기여함을 목적으로 한다. 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247242" y="3617366"/>
            <a:ext cx="477316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47A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제2조 (정의)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1057046" y="3687775"/>
            <a:ext cx="114300" cy="1335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57046" y="3967582"/>
            <a:ext cx="49249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"수변 관광시설"이란 북한강 수변, 계곡 관광지, 수상레저 지역 내에 위치한 </a:t>
            </a:r>
            <a:r>
              <a:rPr lang="en-US" sz="12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공공시설 및 하천 점용 시설</a:t>
            </a:r>
            <a:r>
              <a:rPr lang="en-US" sz="12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말한다. 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1266444" y="4717390"/>
            <a:ext cx="4829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47A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제3조 (이용료)</a:t>
            </a:r>
            <a:endParaRPr lang="en-US" sz="14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57046" y="4787798"/>
            <a:ext cx="133502" cy="13350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57046" y="5068519"/>
            <a:ext cx="49249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군수는 수변 관광시설을 이용하는 자에게 규칙으로 정하는 바에 따라 이용료를 부과·징수할 수 있다. 다만, </a:t>
            </a:r>
            <a:r>
              <a:rPr lang="en-US" sz="12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가평군민은 감면</a:t>
            </a:r>
            <a:r>
              <a:rPr lang="en-US" sz="12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할 수 있다. 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515100" y="2516429"/>
            <a:ext cx="4734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47A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제4조 (징수)</a:t>
            </a:r>
            <a:endParaRPr lang="en-US" sz="14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6286500" y="2586838"/>
            <a:ext cx="152705" cy="13350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286500" y="2866644"/>
            <a:ext cx="49249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군수는 이용료 징수의 효율성을 위하여 해당 시설을 운영하는 사업자에게 </a:t>
            </a:r>
            <a:r>
              <a:rPr lang="en-US" sz="12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징수 업무를 대행</a:t>
            </a:r>
            <a:r>
              <a:rPr lang="en-US" sz="12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하게 할 수 있다. 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6515100" y="3617366"/>
            <a:ext cx="48106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47A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제5조 (특별회계)</a:t>
            </a:r>
            <a:endParaRPr lang="en-US" sz="14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6286500" y="3687775"/>
            <a:ext cx="152705" cy="1335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286500" y="3967582"/>
            <a:ext cx="492495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징수된 이용료 수입은 일반회계와 구분하여 </a:t>
            </a:r>
            <a:r>
              <a:rPr lang="en-US" sz="12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「가평군 관광특별회계」</a:t>
            </a:r>
            <a:r>
              <a:rPr lang="en-US" sz="12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설치하고, 관광 인프라 확충 및 수변 환경 개선 목적에 한하여 운용한다. 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0" y="409651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76402" y="75895"/>
            <a:ext cx="304495" cy="30449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923544" y="0"/>
            <a:ext cx="1820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조례 제정안</a:t>
            </a:r>
            <a:endParaRPr lang="en-US" sz="2400" dirty="0"/>
          </a:p>
        </p:txBody>
      </p:sp>
      <p:sp>
        <p:nvSpPr>
          <p:cNvPr id="34" name="Shape 24"/>
          <p:cNvSpPr/>
          <p:nvPr/>
        </p:nvSpPr>
        <p:spPr>
          <a:xfrm>
            <a:off x="2602382" y="91440"/>
            <a:ext cx="9144" cy="2761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2801722" y="91440"/>
            <a:ext cx="23463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기반 마련 및 제도화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650492"/>
            <a:ext cx="2619756" cy="2143354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8079" y="1889150"/>
            <a:ext cx="666598" cy="666598"/>
          </a:xfrm>
          <a:prstGeom prst="ellipse">
            <a:avLst/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29130" y="2070202"/>
            <a:ext cx="304495" cy="3044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57300" y="2745943"/>
            <a:ext cx="12490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관광 재원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75334" y="3092501"/>
            <a:ext cx="16203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565C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360</a:t>
            </a:r>
            <a:r>
              <a:rPr lang="en-US" sz="14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3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/>
          <a:stretch/>
        </p:blipFill>
        <p:spPr>
          <a:xfrm>
            <a:off x="1790395" y="2387498"/>
            <a:ext cx="1495044" cy="14950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81451" y="1650492"/>
            <a:ext cx="2619756" cy="2143354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58030" y="1889150"/>
            <a:ext cx="666598" cy="66659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4519879" y="2070202"/>
            <a:ext cx="342900" cy="3044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84041" y="2745943"/>
            <a:ext cx="142280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인프라 투자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3885286" y="3092501"/>
            <a:ext cx="16203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838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240</a:t>
            </a:r>
            <a:r>
              <a:rPr lang="en-US" sz="14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3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>
            <a:alphaModFix amt="5000"/>
          </a:blip>
          <a:srcRect t="-2640" b="-2640"/>
          <a:stretch/>
        </p:blipFill>
        <p:spPr>
          <a:xfrm>
            <a:off x="4457700" y="2350008"/>
            <a:ext cx="1638605" cy="153344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91402" y="1650492"/>
            <a:ext cx="2619756" cy="2143354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167982" y="1889150"/>
            <a:ext cx="666598" cy="666598"/>
          </a:xfrm>
          <a:prstGeom prst="ellipse">
            <a:avLst/>
          </a:prstGeom>
          <a:solidFill>
            <a:srgbClr val="FFF8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7329830" y="2070202"/>
            <a:ext cx="342900" cy="3044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877202" y="2745943"/>
            <a:ext cx="12490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상권 소비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6695237" y="3092501"/>
            <a:ext cx="16203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9A825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120</a:t>
            </a:r>
            <a:r>
              <a:rPr lang="en-US" sz="14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36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>
            <a:alphaModFix amt="5000"/>
          </a:blip>
          <a:srcRect t="-2640" b="-2640"/>
          <a:stretch/>
        </p:blipFill>
        <p:spPr>
          <a:xfrm>
            <a:off x="7267651" y="2350008"/>
            <a:ext cx="1638605" cy="1533449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01354" y="1650492"/>
            <a:ext cx="2619756" cy="2143354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977018" y="1889150"/>
            <a:ext cx="666598" cy="666598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rcRect l="-90" r="-90"/>
          <a:stretch/>
        </p:blipFill>
        <p:spPr>
          <a:xfrm>
            <a:off x="10120579" y="2070202"/>
            <a:ext cx="381305" cy="30449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826142" y="2745943"/>
            <a:ext cx="97109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일자리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9516161" y="3092501"/>
            <a:ext cx="15901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2E7D3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지속 증가</a:t>
            </a:r>
            <a:endParaRPr lang="en-US" sz="26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rcRect t="-4871" b="-4871"/>
          <a:stretch/>
        </p:blipFill>
        <p:spPr>
          <a:xfrm>
            <a:off x="9924898" y="2311603"/>
            <a:ext cx="1790395" cy="1571854"/>
          </a:xfrm>
          <a:prstGeom prst="rect">
            <a:avLst/>
          </a:prstGeom>
        </p:spPr>
      </p:pic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rcRect l="-1" r="-1"/>
          <a:stretch/>
        </p:blipFill>
        <p:spPr>
          <a:xfrm>
            <a:off x="571500" y="4264762"/>
            <a:ext cx="11048695" cy="1419149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2">
            <a:alphaModFix amt="10000"/>
          </a:blip>
          <a:srcRect l="-1" r="-1"/>
          <a:stretch/>
        </p:blipFill>
        <p:spPr>
          <a:xfrm>
            <a:off x="571500" y="4264762"/>
            <a:ext cx="11048695" cy="1419149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19"/>
          <p:cNvSpPr txBox="1"/>
          <p:nvPr/>
        </p:nvSpPr>
        <p:spPr>
          <a:xfrm>
            <a:off x="476402" y="6576365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</a:t>
            </a:r>
            <a:endParaRPr lang="en-US" sz="900" dirty="0"/>
          </a:p>
        </p:txBody>
      </p:sp>
      <p:sp>
        <p:nvSpPr>
          <p:cNvPr id="32" name="Text 20"/>
          <p:cNvSpPr txBox="1"/>
          <p:nvPr/>
        </p:nvSpPr>
        <p:spPr>
          <a:xfrm>
            <a:off x="11579962" y="6576365"/>
            <a:ext cx="219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9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3"/>
          <a:srcRect t="-91" b="-91"/>
          <a:stretch/>
        </p:blipFill>
        <p:spPr>
          <a:xfrm>
            <a:off x="857707" y="4795114"/>
            <a:ext cx="819302" cy="36210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828446" y="4795114"/>
            <a:ext cx="8769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</a:t>
            </a:r>
            <a:endParaRPr lang="en-US" sz="1000" dirty="0"/>
          </a:p>
        </p:txBody>
      </p:sp>
      <p:sp>
        <p:nvSpPr>
          <p:cNvPr id="35" name="Text 22"/>
          <p:cNvSpPr txBox="1"/>
          <p:nvPr/>
        </p:nvSpPr>
        <p:spPr>
          <a:xfrm>
            <a:off x="1859890" y="4768596"/>
            <a:ext cx="396666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대한민국 최초 관광재정 모델</a:t>
            </a:r>
            <a:endParaRPr lang="en-US" sz="21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4"/>
          <a:srcRect l="-107" r="-107"/>
          <a:stretch/>
        </p:blipFill>
        <p:spPr>
          <a:xfrm>
            <a:off x="8203997" y="4821631"/>
            <a:ext cx="267005" cy="304495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7946136" y="4826203"/>
            <a:ext cx="33915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dirty="0">
                <a:solidFill>
                  <a:srgbClr val="FFC10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관광재정 1,000억</a:t>
            </a:r>
            <a:endParaRPr lang="en-US" sz="3000" dirty="0"/>
          </a:p>
        </p:txBody>
      </p:sp>
      <p:sp>
        <p:nvSpPr>
          <p:cNvPr id="38" name="Text 24"/>
          <p:cNvSpPr txBox="1"/>
          <p:nvPr/>
        </p:nvSpPr>
        <p:spPr>
          <a:xfrm>
            <a:off x="8422538" y="4550054"/>
            <a:ext cx="2915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중장기 목표</a:t>
            </a:r>
            <a:endParaRPr lang="en-US" sz="1200" dirty="0"/>
          </a:p>
        </p:txBody>
      </p:sp>
      <p:sp>
        <p:nvSpPr>
          <p:cNvPr id="39" name="Shape 25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26"/>
          <p:cNvSpPr/>
          <p:nvPr/>
        </p:nvSpPr>
        <p:spPr>
          <a:xfrm>
            <a:off x="0" y="809244"/>
            <a:ext cx="12191695" cy="47549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76402" y="276149"/>
            <a:ext cx="304495" cy="304495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923544" y="20025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효과 요약</a:t>
            </a:r>
            <a:endParaRPr lang="en-US" sz="2400" dirty="0"/>
          </a:p>
        </p:txBody>
      </p:sp>
      <p:sp>
        <p:nvSpPr>
          <p:cNvPr id="43" name="Shape 28"/>
          <p:cNvSpPr/>
          <p:nvPr/>
        </p:nvSpPr>
        <p:spPr>
          <a:xfrm>
            <a:off x="2967228" y="291694"/>
            <a:ext cx="9144" cy="2761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29"/>
          <p:cNvSpPr txBox="1"/>
          <p:nvPr/>
        </p:nvSpPr>
        <p:spPr>
          <a:xfrm>
            <a:off x="3167482" y="291694"/>
            <a:ext cx="22320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관광의 획기적 도약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29500" y="-1904695"/>
            <a:ext cx="5715000" cy="5715000"/>
          </a:xfrm>
          <a:prstGeom prst="ellipse">
            <a:avLst/>
          </a:prstGeom>
          <a:solidFill>
            <a:srgbClr val="00838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89704" y="793699"/>
            <a:ext cx="3219602" cy="571500"/>
          </a:xfrm>
          <a:prstGeom prst="roundRect">
            <a:avLst>
              <a:gd name="adj" fmla="val 160000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66360" y="907999"/>
            <a:ext cx="2429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4DD0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가평을 살리는 마중물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3689" r="-3689"/>
          <a:stretch/>
        </p:blipFill>
        <p:spPr>
          <a:xfrm>
            <a:off x="4795114" y="965606"/>
            <a:ext cx="276149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328977" y="1746504"/>
            <a:ext cx="7534656" cy="164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kern="0" spc="-75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북한강변을 한국을 넘어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kern="0" spc="-75" dirty="0">
                <a:solidFill>
                  <a:srgbClr val="FFCA2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세계 최고의 수변 관광도시</a:t>
            </a:r>
            <a:r>
              <a:rPr lang="en-US" sz="5400" kern="0" spc="-75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로 </a:t>
            </a:r>
            <a:endParaRPr lang="en-US" sz="5400" dirty="0"/>
          </a:p>
        </p:txBody>
      </p:sp>
      <p:sp>
        <p:nvSpPr>
          <p:cNvPr id="12" name="Text 8"/>
          <p:cNvSpPr txBox="1"/>
          <p:nvPr/>
        </p:nvSpPr>
        <p:spPr>
          <a:xfrm>
            <a:off x="2291486" y="3678631"/>
            <a:ext cx="760872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kern="0" spc="38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인구 소멸 지역에서 </a:t>
            </a:r>
            <a:r>
              <a:rPr lang="en-US" sz="2100" b="1" kern="0" spc="38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젊음의 거리</a:t>
            </a:r>
            <a:r>
              <a:rPr lang="en-US" sz="2100" kern="0" spc="38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로, </a:t>
            </a:r>
            <a:r>
              <a:rPr lang="en-US" sz="2100" b="1" kern="0" spc="38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잘사는 관광도시</a:t>
            </a:r>
            <a:r>
              <a:rPr lang="en-US" sz="2100" kern="0" spc="38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</a:t>
            </a:r>
            <a:endParaRPr lang="en-US" sz="2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1600200" y="4851806"/>
            <a:ext cx="8991295" cy="121158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981505" y="4661611"/>
            <a:ext cx="476402" cy="476402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2119579" y="4785055"/>
            <a:ext cx="200254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621938" y="5138014"/>
            <a:ext cx="505206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"북한강 청평호수는 가평의 소중한 자산입니다.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이를 잘 지키고 가꾸는 것이 </a:t>
            </a:r>
            <a:r>
              <a:rPr lang="en-US" sz="1600" b="1" dirty="0">
                <a:solidFill>
                  <a:srgbClr val="0D47A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가평 군민의 소명</a:t>
            </a:r>
            <a:r>
              <a:rPr lang="en-US" sz="16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입니다." </a:t>
            </a:r>
            <a:endParaRPr lang="en-US" sz="1600" dirty="0"/>
          </a:p>
        </p:txBody>
      </p:sp>
      <p:sp>
        <p:nvSpPr>
          <p:cNvPr id="17" name="Text 10"/>
          <p:cNvSpPr txBox="1"/>
          <p:nvPr/>
        </p:nvSpPr>
        <p:spPr>
          <a:xfrm>
            <a:off x="-95098" y="6366053"/>
            <a:ext cx="12382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 수변 이용료 제도 종합 보고서 | 2026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/>
          <a:stretch/>
        </p:blipFill>
        <p:spPr>
          <a:xfrm>
            <a:off x="476402" y="427939"/>
            <a:ext cx="181051" cy="181051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52551" y="381305"/>
            <a:ext cx="264078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가평군청 GAPYEONG COUNTY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1242</Words>
  <Application>Microsoft Office PowerPoint</Application>
  <PresentationFormat>와이드스크린</PresentationFormat>
  <Paragraphs>315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Black Han Sans</vt:lpstr>
      <vt:lpstr>Nanum Myeongjo</vt:lpstr>
      <vt:lpstr>Noto Sans KR</vt:lpstr>
      <vt:lpstr>Noto Serif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유한나 프로</cp:lastModifiedBy>
  <cp:revision>5</cp:revision>
  <cp:lastPrinted>2026-03-17T07:21:41Z</cp:lastPrinted>
  <dcterms:created xsi:type="dcterms:W3CDTF">2026-03-15T18:16:57Z</dcterms:created>
  <dcterms:modified xsi:type="dcterms:W3CDTF">2026-03-17T07:21:41Z</dcterms:modified>
</cp:coreProperties>
</file>